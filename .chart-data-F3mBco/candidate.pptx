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3b92517fa604b47" /><Relationship Type="http://schemas.openxmlformats.org/officeDocument/2006/relationships/extended-properties" Target="/docProps/app.xml" Id="R3fee7a460ae94d5f" /><Relationship Type="http://schemas.openxmlformats.org/officeDocument/2006/relationships/officeDocument" Target="/ppt/presentation.xml" Id="R21f0ed2cfcb24340" /></Relationships>
</file>

<file path=ppt/presentation.xml><?xml version="1.0" encoding="utf-8"?>
<p:presentation xmlns:p="http://schemas.openxmlformats.org/presentationml/2006/main">
  <p:sldMasterIdLst>
    <p:sldMasterId xmlns:r="http://schemas.openxmlformats.org/officeDocument/2006/relationships" id="2147483648" r:id="R599e682e37f54652"/>
  </p:sldMasterIdLst>
  <p:notesMasterIdLst>
    <p:notesMasterId xmlns:r="http://schemas.openxmlformats.org/officeDocument/2006/relationships" r:id="Rbdebb6be2feb48da"/>
  </p:notesMasterIdLst>
  <p:sldIdLst>
    <p:sldId xmlns:r="http://schemas.openxmlformats.org/officeDocument/2006/relationships" id="256" r:id="R74b970736df94687"/>
    <p:sldId xmlns:r="http://schemas.openxmlformats.org/officeDocument/2006/relationships" id="257" r:id="R253c1a0998594ceb"/>
    <p:sldId xmlns:r="http://schemas.openxmlformats.org/officeDocument/2006/relationships" id="258" r:id="R876c4a4172954e9c"/>
    <p:sldId xmlns:r="http://schemas.openxmlformats.org/officeDocument/2006/relationships" id="259" r:id="R5351528640f14ca2"/>
    <p:sldId xmlns:r="http://schemas.openxmlformats.org/officeDocument/2006/relationships" id="260" r:id="R236ba3c214364ad1"/>
    <p:sldId xmlns:r="http://schemas.openxmlformats.org/officeDocument/2006/relationships" id="261" r:id="R9ce85f28ed514c08"/>
    <p:sldId xmlns:r="http://schemas.openxmlformats.org/officeDocument/2006/relationships" id="262" r:id="R6a94dacb35984ce2"/>
    <p:sldId xmlns:r="http://schemas.openxmlformats.org/officeDocument/2006/relationships" id="263" r:id="R0ab3fdc02a3c49dd"/>
    <p:sldId xmlns:r="http://schemas.openxmlformats.org/officeDocument/2006/relationships" id="264" r:id="R471e5a54d91e4dfc"/>
    <p:sldId xmlns:r="http://schemas.openxmlformats.org/officeDocument/2006/relationships" id="265" r:id="Rb6bc793ebe7047f8"/>
    <p:sldId xmlns:r="http://schemas.openxmlformats.org/officeDocument/2006/relationships" id="266" r:id="Rb98b90d93cb64ab8"/>
    <p:sldId xmlns:r="http://schemas.openxmlformats.org/officeDocument/2006/relationships" id="267" r:id="Rcd5b870a3f104c01"/>
    <p:sldId xmlns:r="http://schemas.openxmlformats.org/officeDocument/2006/relationships" id="268" r:id="R70cb0bdef69a4778"/>
    <p:sldId xmlns:r="http://schemas.openxmlformats.org/officeDocument/2006/relationships" id="269" r:id="R77200bb70ece40f3"/>
    <p:sldId xmlns:r="http://schemas.openxmlformats.org/officeDocument/2006/relationships" id="270" r:id="Rcb59690a2bae4d7b"/>
    <p:sldId xmlns:r="http://schemas.openxmlformats.org/officeDocument/2006/relationships" id="271" r:id="Re51510d9081a4117"/>
    <p:sldId xmlns:r="http://schemas.openxmlformats.org/officeDocument/2006/relationships" id="272" r:id="R41feb038227e4733"/>
    <p:sldId xmlns:r="http://schemas.openxmlformats.org/officeDocument/2006/relationships" id="273" r:id="R4e69b58ef8c14d21"/>
    <p:sldId xmlns:r="http://schemas.openxmlformats.org/officeDocument/2006/relationships" id="274" r:id="R77c636e48fde4386"/>
    <p:sldId xmlns:r="http://schemas.openxmlformats.org/officeDocument/2006/relationships" id="275" r:id="Rb3e6acba339748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a9c0cf6ede4459" /><Relationship Type="http://schemas.openxmlformats.org/officeDocument/2006/relationships/slideMaster" Target="/ppt/slideMasters/slideMaster1.xml" Id="R599e682e37f54652" /><Relationship Type="http://schemas.openxmlformats.org/officeDocument/2006/relationships/notesMaster" Target="/ppt/notesMasters/notesMaster1.xml" Id="Rbdebb6be2feb48da" /><Relationship Type="http://schemas.openxmlformats.org/officeDocument/2006/relationships/presProps" Target="/ppt/presProps.xml" Id="R18623a550da04655" /><Relationship Type="http://schemas.openxmlformats.org/officeDocument/2006/relationships/tableStyles" Target="/ppt/tableStyles.xml" Id="R4f129d66dc094fa9" /><Relationship Type="http://schemas.openxmlformats.org/officeDocument/2006/relationships/slide" Target="/ppt/slides/slide1.xml" Id="R74b970736df94687" /><Relationship Type="http://schemas.openxmlformats.org/officeDocument/2006/relationships/slide" Target="/ppt/slides/slide2.xml" Id="R253c1a0998594ceb" /><Relationship Type="http://schemas.openxmlformats.org/officeDocument/2006/relationships/slide" Target="/ppt/slides/slide3.xml" Id="R876c4a4172954e9c" /><Relationship Type="http://schemas.openxmlformats.org/officeDocument/2006/relationships/slide" Target="/ppt/slides/slide4.xml" Id="R5351528640f14ca2" /><Relationship Type="http://schemas.openxmlformats.org/officeDocument/2006/relationships/slide" Target="/ppt/slides/slide5.xml" Id="R236ba3c214364ad1" /><Relationship Type="http://schemas.openxmlformats.org/officeDocument/2006/relationships/slide" Target="/ppt/slides/slide6.xml" Id="R9ce85f28ed514c08" /><Relationship Type="http://schemas.openxmlformats.org/officeDocument/2006/relationships/slide" Target="/ppt/slides/slide7.xml" Id="R6a94dacb35984ce2" /><Relationship Type="http://schemas.openxmlformats.org/officeDocument/2006/relationships/slide" Target="/ppt/slides/slide8.xml" Id="R0ab3fdc02a3c49dd" /><Relationship Type="http://schemas.openxmlformats.org/officeDocument/2006/relationships/slide" Target="/ppt/slides/slide9.xml" Id="R471e5a54d91e4dfc" /><Relationship Type="http://schemas.openxmlformats.org/officeDocument/2006/relationships/slide" Target="/ppt/slides/slide10.xml" Id="Rb6bc793ebe7047f8" /><Relationship Type="http://schemas.openxmlformats.org/officeDocument/2006/relationships/slide" Target="/ppt/slides/slide11.xml" Id="Rb98b90d93cb64ab8" /><Relationship Type="http://schemas.openxmlformats.org/officeDocument/2006/relationships/slide" Target="/ppt/slides/slide12.xml" Id="Rcd5b870a3f104c01" /><Relationship Type="http://schemas.openxmlformats.org/officeDocument/2006/relationships/slide" Target="/ppt/slides/slide13.xml" Id="R70cb0bdef69a4778" /><Relationship Type="http://schemas.openxmlformats.org/officeDocument/2006/relationships/slide" Target="/ppt/slides/slide14.xml" Id="R77200bb70ece40f3" /><Relationship Type="http://schemas.openxmlformats.org/officeDocument/2006/relationships/slide" Target="/ppt/slides/slide15.xml" Id="Rcb59690a2bae4d7b" /><Relationship Type="http://schemas.openxmlformats.org/officeDocument/2006/relationships/slide" Target="/ppt/slides/slide16.xml" Id="Re51510d9081a4117" /><Relationship Type="http://schemas.openxmlformats.org/officeDocument/2006/relationships/slide" Target="/ppt/slides/slide17.xml" Id="R41feb038227e4733" /><Relationship Type="http://schemas.openxmlformats.org/officeDocument/2006/relationships/slide" Target="/ppt/slides/slide18.xml" Id="R4e69b58ef8c14d21" /><Relationship Type="http://schemas.openxmlformats.org/officeDocument/2006/relationships/slide" Target="/ppt/slides/slide19.xml" Id="R77c636e48fde4386" /><Relationship Type="http://schemas.openxmlformats.org/officeDocument/2006/relationships/slide" Target="/ppt/slides/slide20.xml" Id="Rb3e6acba339748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d8842e591e41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67fdaee1ed4213" /><Relationship Type="http://schemas.openxmlformats.org/officeDocument/2006/relationships/notesMaster" Target="/ppt/notesMasters/notesMaster1.xml" Id="R4edd0420a78049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4643413ed645b1" /><Relationship Type="http://schemas.openxmlformats.org/officeDocument/2006/relationships/notesMaster" Target="/ppt/notesMasters/notesMaster1.xml" Id="Rcf1d9aeb6e8c47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48a96195944ab3" /><Relationship Type="http://schemas.openxmlformats.org/officeDocument/2006/relationships/notesMaster" Target="/ppt/notesMasters/notesMaster1.xml" Id="Rb6debab650d248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81a854c7b84465" /><Relationship Type="http://schemas.openxmlformats.org/officeDocument/2006/relationships/notesMaster" Target="/ppt/notesMasters/notesMaster1.xml" Id="R6b95f0af7a604e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5a868a2fe046fa" /><Relationship Type="http://schemas.openxmlformats.org/officeDocument/2006/relationships/notesMaster" Target="/ppt/notesMasters/notesMaster1.xml" Id="Rded0eb9ba3ab48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15f7950c1e4cb7" /><Relationship Type="http://schemas.openxmlformats.org/officeDocument/2006/relationships/notesMaster" Target="/ppt/notesMasters/notesMaster1.xml" Id="Re29a40943bfa4c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b190d2ad634ead" /><Relationship Type="http://schemas.openxmlformats.org/officeDocument/2006/relationships/notesMaster" Target="/ppt/notesMasters/notesMaster1.xml" Id="Ra518b74cf4a542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652210f7f54e0d" /><Relationship Type="http://schemas.openxmlformats.org/officeDocument/2006/relationships/notesMaster" Target="/ppt/notesMasters/notesMaster1.xml" Id="R2e4712fdd7c549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4a48d208614f15" /><Relationship Type="http://schemas.openxmlformats.org/officeDocument/2006/relationships/notesMaster" Target="/ppt/notesMasters/notesMaster1.xml" Id="R8824b4e6ab9d44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9531ef128a496c" /><Relationship Type="http://schemas.openxmlformats.org/officeDocument/2006/relationships/notesMaster" Target="/ppt/notesMasters/notesMaster1.xml" Id="Rcc9a77b3c3a749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1c93dc32744255" /><Relationship Type="http://schemas.openxmlformats.org/officeDocument/2006/relationships/notesMaster" Target="/ppt/notesMasters/notesMaster1.xml" Id="R8926fb02f5d141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d2a9739142409f" /><Relationship Type="http://schemas.openxmlformats.org/officeDocument/2006/relationships/notesMaster" Target="/ppt/notesMasters/notesMaster1.xml" Id="R61280f7625c24a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cf35e16d1d4249" /><Relationship Type="http://schemas.openxmlformats.org/officeDocument/2006/relationships/notesMaster" Target="/ppt/notesMasters/notesMaster1.xml" Id="Ra81bc6f3723e49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39909d40b6441a" /><Relationship Type="http://schemas.openxmlformats.org/officeDocument/2006/relationships/notesMaster" Target="/ppt/notesMasters/notesMaster1.xml" Id="R04435c439f6145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138ca5487242b5" /><Relationship Type="http://schemas.openxmlformats.org/officeDocument/2006/relationships/notesMaster" Target="/ppt/notesMasters/notesMaster1.xml" Id="Rf0461602c96c458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4a03711b924e75" /><Relationship Type="http://schemas.openxmlformats.org/officeDocument/2006/relationships/notesMaster" Target="/ppt/notesMasters/notesMaster1.xml" Id="Rbbd5e8fcaf87447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3d01cdd0fc14def" /><Relationship Type="http://schemas.openxmlformats.org/officeDocument/2006/relationships/notesMaster" Target="/ppt/notesMasters/notesMaster1.xml" Id="Rca55980c866542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6f2c87caa114065" /><Relationship Type="http://schemas.openxmlformats.org/officeDocument/2006/relationships/notesMaster" Target="/ppt/notesMasters/notesMaster1.xml" Id="Rc110ee583bbc43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fccd78110644145" /><Relationship Type="http://schemas.openxmlformats.org/officeDocument/2006/relationships/notesMaster" Target="/ppt/notesMasters/notesMaster1.xml" Id="R806c9bafa3a34f9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6ec281904f9426f" /><Relationship Type="http://schemas.openxmlformats.org/officeDocument/2006/relationships/notesMaster" Target="/ppt/notesMasters/notesMaster1.xml" Id="Rc333a24fa2a44c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A renamed or modified file does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completed demonstration results in later slides are a separate RRA-only validation batch. The existing full MLE batch is still computing at capture time.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of an existing full-genome MLE analysis. The progress bar records completed stages, not percentage of compute time or a promised finish time. The current attempt is in hit calling. Some other existing MLE runs encountered count-write database timeouts and retried. Retry startup now resets stale stage records, and bulk writes use bounded COPY batches with a transaction-local timeout. Full MLE scientific comparison remains unfinished. Frontend realtime events and a five-second polling fallback read Supabase run and stage records. Cloudflare R2 stores input objects, Supabase stores metadata and results, and Modal executes analysis. The screenshot is a dated snapshot. No new analysis job was submitted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RRA-only report for spheroid WT versus plasmid. 18,049 genes have recorded statistics. 178 pass the SplicR two-direction FDR threshold 0.05, of which 172 have at least one artifact flag. Flags prompt inspection and do not automatically disprove a gene.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in the displayed order.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rra-cloud/reference-gene-statistics.csv, spheroid WT versus plasmid. FIG4 has median gene LFC 3.1413, native enrichment FDR 1.0 and union FDR 1.0. VAC14 LFC 4.9627, native enrichment FDR 0.889219 and union FDR 1.0. PIKFYVE LFC 0.40606, native enrichment FDR 1.0 and union FDR 1.0. Values rounded only for presentation. FIG4 and VAC14 show positive fold changes, but this RRA batch does not call them significant. The authors used MAGeCK MLE and wet-lab follow-up. Their paper says PIKFYVE sgRNAs did not enrich in WT spheroids and tests the complex pharmacologically with apilimod. We cannot claim that this completed batch reproduces the paper's central statistical findings or improves them. The full MLE comparison remains open until completed and reconciled with the authors' filtering/design.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In this RRA-only batch the MLE fields are blank, not zero. JSON exposes sample_data=false, workspace source, untruncated rows, settings and stages. The downloadable results bundle includes six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Existing full MLE jobs took longer and remained running at capture.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comparison excludes the query publication to limit leakage.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4f78cf964849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850ce1cc684de9" /><Relationship Type="http://schemas.openxmlformats.org/officeDocument/2006/relationships/slideLayout" Target="/ppt/slideLayouts/slideLayout1.xml" Id="R33d5e7a2489b43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d5e7a2489b43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58820e9aad4f7a" /><Relationship Type="http://schemas.openxmlformats.org/officeDocument/2006/relationships/image" Target="/ppt/media/image.png" Id="Reb6fecbd421545c8" /><Relationship Type="http://schemas.openxmlformats.org/officeDocument/2006/relationships/notesSlide" Target="/ppt/notesSlides/notesSlide1.xml" Id="R2e4d9c8137b34b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7ac5106e4cb421d" /><Relationship Type="http://schemas.openxmlformats.org/officeDocument/2006/relationships/image" Target="/ppt/media/image2.png" Id="R70fe5fabdfd1408b" /><Relationship Type="http://schemas.openxmlformats.org/officeDocument/2006/relationships/image" Target="/ppt/media/image.jpeg" Id="R95f47e17a91c45cf" /><Relationship Type="http://schemas.openxmlformats.org/officeDocument/2006/relationships/notesSlide" Target="/ppt/notesSlides/notesSlide2.xml" Id="R088aba8683fc49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c23d6efd7641ed" /><Relationship Type="http://schemas.openxmlformats.org/officeDocument/2006/relationships/image" Target="/ppt/media/image3.png" Id="R66394a0b67f141ae" /><Relationship Type="http://schemas.openxmlformats.org/officeDocument/2006/relationships/notesSlide" Target="/ppt/notesSlides/notesSlide3.xml" Id="R8b4e1d62d72c48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d16f1b31964834" /><Relationship Type="http://schemas.openxmlformats.org/officeDocument/2006/relationships/image" Target="/ppt/media/image4.png" Id="R6cf65696b7d04003" /><Relationship Type="http://schemas.openxmlformats.org/officeDocument/2006/relationships/notesSlide" Target="/ppt/notesSlides/notesSlide4.xml" Id="Rfcf7eabc31e842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470fdd7f414045" /><Relationship Type="http://schemas.openxmlformats.org/officeDocument/2006/relationships/image" Target="/ppt/media/image5.png" Id="R47a1ca8c20204e0f" /><Relationship Type="http://schemas.openxmlformats.org/officeDocument/2006/relationships/image" Target="/ppt/media/image6.png" Id="Rc3f662c480fe487e" /><Relationship Type="http://schemas.openxmlformats.org/officeDocument/2006/relationships/notesSlide" Target="/ppt/notesSlides/notesSlide5.xml" Id="R3d102e9e67bb49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a8432f477d44b0" /><Relationship Type="http://schemas.openxmlformats.org/officeDocument/2006/relationships/image" Target="/ppt/media/image7.png" Id="R5d96c10183e24662" /><Relationship Type="http://schemas.openxmlformats.org/officeDocument/2006/relationships/image" Target="/ppt/media/image8.png" Id="R2fcb2ff4a8ab426b" /><Relationship Type="http://schemas.openxmlformats.org/officeDocument/2006/relationships/notesSlide" Target="/ppt/notesSlides/notesSlide6.xml" Id="Rd6b23917793e4b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83923c425d4326" /><Relationship Type="http://schemas.openxmlformats.org/officeDocument/2006/relationships/image" Target="/ppt/media/image9.png" Id="R47f2277401884a59" /><Relationship Type="http://schemas.openxmlformats.org/officeDocument/2006/relationships/image" Target="/ppt/media/image10.png" Id="R36e25dbb41aa4ce9" /><Relationship Type="http://schemas.openxmlformats.org/officeDocument/2006/relationships/notesSlide" Target="/ppt/notesSlides/notesSlide7.xml" Id="R28f45b4d147f40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0ed636eb7b432e" /><Relationship Type="http://schemas.openxmlformats.org/officeDocument/2006/relationships/image" Target="/ppt/media/image11.png" Id="Rf890d86369244b9b" /><Relationship Type="http://schemas.openxmlformats.org/officeDocument/2006/relationships/image" Target="/ppt/media/image12.png" Id="R5475a51eba4e4aa6" /><Relationship Type="http://schemas.openxmlformats.org/officeDocument/2006/relationships/notesSlide" Target="/ppt/notesSlides/notesSlide8.xml" Id="Rf08375d2353547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c157d808c4472f" /><Relationship Type="http://schemas.openxmlformats.org/officeDocument/2006/relationships/image" Target="/ppt/media/image13.png" Id="R39c9080238e34a35" /><Relationship Type="http://schemas.openxmlformats.org/officeDocument/2006/relationships/image" Target="/ppt/media/image14.png" Id="Rdffaf217b1cf4601" /><Relationship Type="http://schemas.openxmlformats.org/officeDocument/2006/relationships/notesSlide" Target="/ppt/notesSlides/notesSlide9.xml" Id="Re5929ef36df944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0afb008b354b09" /><Relationship Type="http://schemas.openxmlformats.org/officeDocument/2006/relationships/image" Target="/ppt/media/image15.png" Id="R3fb9e9a960ed426a" /><Relationship Type="http://schemas.openxmlformats.org/officeDocument/2006/relationships/image" Target="/ppt/media/image16.png" Id="Rf39d9ecd9e3d492a" /><Relationship Type="http://schemas.openxmlformats.org/officeDocument/2006/relationships/notesSlide" Target="/ppt/notesSlides/notesSlide10.xml" Id="Rfb6bb40ac3f442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96bbaff78d4105" /><Relationship Type="http://schemas.openxmlformats.org/officeDocument/2006/relationships/image" Target="/ppt/media/image17.png" Id="R5a2786f54fe14711" /><Relationship Type="http://schemas.openxmlformats.org/officeDocument/2006/relationships/chart" Target="/ppt/slides/charts/chart1.xml" Id="R6b6fbbffe66440ba" /><Relationship Type="http://schemas.openxmlformats.org/officeDocument/2006/relationships/notesSlide" Target="/ppt/notesSlides/notesSlide11.xml" Id="R47ad8932a03b4f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7df3f2b08f4ad6" /><Relationship Type="http://schemas.openxmlformats.org/officeDocument/2006/relationships/image" Target="/ppt/media/image18.png" Id="Raa1a506d77954119" /><Relationship Type="http://schemas.openxmlformats.org/officeDocument/2006/relationships/notesSlide" Target="/ppt/notesSlides/notesSlide12.xml" Id="R69820e19a9964a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72bd67dfec4fa0" /><Relationship Type="http://schemas.openxmlformats.org/officeDocument/2006/relationships/image" Target="/ppt/media/image19.png" Id="Rd1629a8398a14c8e" /><Relationship Type="http://schemas.openxmlformats.org/officeDocument/2006/relationships/image" Target="/ppt/media/image20.png" Id="R369fbf5e98fb4f8a" /><Relationship Type="http://schemas.openxmlformats.org/officeDocument/2006/relationships/notesSlide" Target="/ppt/notesSlides/notesSlide13.xml" Id="R7dac19e8b46547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83f587cfe65438a" /><Relationship Type="http://schemas.openxmlformats.org/officeDocument/2006/relationships/image" Target="/ppt/media/image21.png" Id="Rcebcef5c87224888" /><Relationship Type="http://schemas.openxmlformats.org/officeDocument/2006/relationships/notesSlide" Target="/ppt/notesSlides/notesSlide14.xml" Id="Rd3ee273ffa3542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02ec257a8a34ce3" /><Relationship Type="http://schemas.openxmlformats.org/officeDocument/2006/relationships/image" Target="/ppt/media/image22.png" Id="Re14b6cd7eba34201" /><Relationship Type="http://schemas.openxmlformats.org/officeDocument/2006/relationships/notesSlide" Target="/ppt/notesSlides/notesSlide15.xml" Id="R0c68fe9e6f4f48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3d84075d2f54169" /><Relationship Type="http://schemas.openxmlformats.org/officeDocument/2006/relationships/image" Target="/ppt/media/image23.png" Id="R3497843abe0948d3" /><Relationship Type="http://schemas.openxmlformats.org/officeDocument/2006/relationships/notesSlide" Target="/ppt/notesSlides/notesSlide16.xml" Id="R66d758e759084f5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be3deafc05a4f4f" /><Relationship Type="http://schemas.openxmlformats.org/officeDocument/2006/relationships/image" Target="/ppt/media/image24.png" Id="R07517837331448f8" /><Relationship Type="http://schemas.openxmlformats.org/officeDocument/2006/relationships/image" Target="/ppt/media/image25.png" Id="Rcf00ac832b764865" /><Relationship Type="http://schemas.openxmlformats.org/officeDocument/2006/relationships/notesSlide" Target="/ppt/notesSlides/notesSlide17.xml" Id="Rb499c43126c14c9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085c33c58294018" /><Relationship Type="http://schemas.openxmlformats.org/officeDocument/2006/relationships/image" Target="/ppt/media/image26.png" Id="Rc7864f2497734732" /><Relationship Type="http://schemas.openxmlformats.org/officeDocument/2006/relationships/notesSlide" Target="/ppt/notesSlides/notesSlide18.xml" Id="R20dce898ef514d1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f9af78e708f4062" /><Relationship Type="http://schemas.openxmlformats.org/officeDocument/2006/relationships/image" Target="/ppt/media/image27.png" Id="R5f5e19ff6f5f4ed2" /><Relationship Type="http://schemas.openxmlformats.org/officeDocument/2006/relationships/notesSlide" Target="/ppt/notesSlides/notesSlide19.xml" Id="R2db7876c825b4b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b38da5985b04606" /><Relationship Type="http://schemas.openxmlformats.org/officeDocument/2006/relationships/image" Target="/ppt/media/image28.png" Id="Rdc61e1f8b34b4ead" /><Relationship Type="http://schemas.openxmlformats.org/officeDocument/2006/relationships/notesSlide" Target="/ppt/notesSlides/notesSlide20.xml" Id="R540ca67602a34a9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5D6B581-03D6-43DC-A113-8687BCD9D5D5}"/>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b6fecbd421545c8"/>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32F1CC66-8C5D-4EFD-858C-94DDFF912F80}"/>
              </a:ext>
            </a:extLst>
          </p:cNvPr>
          <p:cNvSpPr>
            <a:spLocks xmlns:a="http://schemas.openxmlformats.org/drawingml/2006/main" noGrp="1"/>
          </p:cNvSpPr>
          <p:nvPr/>
        </p:nvSpPr>
        <p:spPr>
          <a:xfrm xmlns:a="http://schemas.openxmlformats.org/drawingml/2006/main">
            <a:off x="609600" y="2143125"/>
            <a:ext cx="952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F213846F-48DE-419D-9847-60FC495554F0}"/>
              </a:ext>
            </a:extLst>
          </p:cNvPr>
          <p:cNvSpPr>
            <a:spLocks xmlns:a="http://schemas.openxmlformats.org/drawingml/2006/main" noGrp="1"/>
          </p:cNvSpPr>
          <p:nvPr/>
        </p:nvSpPr>
        <p:spPr>
          <a:xfrm xmlns:a="http://schemas.openxmlformats.org/drawingml/2006/main">
            <a:off x="647700" y="43338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37B153CD-A77A-41B2-8332-E305850193C8}"/>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1484310176"/>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0fe5fabdfd1408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E1FC528-B284-4394-BF2B-DAF07CF75B4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1D4B7DA3-9E4A-493D-BB2C-5DF95D9874EA}"/>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8791E121-BDBA-4A5D-B4CF-3B28BFAE6E16}"/>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32A255FE-871A-43E5-8467-13D034D639A0}"/>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020D596D-2F2E-4E6C-A833-A6956FCC954B}"/>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5f47e17a91c45cf"/>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C2FC83AD-9BA0-4FC7-9FEC-7650B70EE5D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272803931"/>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6394a0b67f141a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4532F33-8757-420D-AEF5-3B2D667A253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B334BF97-B515-49F6-A159-42E58615A88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8129AAD3-C644-4997-BB21-2E88A89AF39F}"/>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AADB04D9-FA69-4886-AD84-9D6E5D643C08}"/>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084C7151-A2B0-41E5-87C3-DFEBD96F5B9D}"/>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55920022"/>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cf65696b7d0400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ADB1C2A-C25F-45DA-B64A-D3445901705A}"/>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EEC85DBD-A5BB-4C7C-AB36-ADF09809E8B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1E959097-5FF4-4B93-8648-D62201E4538F}"/>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931AE911-2D41-4FF4-A655-48B760396A23}"/>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738DD4EC-771F-42C6-87B8-4735CA5BAF43}"/>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5F9036C4-97C8-4A87-BAC2-0416FABB48B7}"/>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B564D4E5-B381-4E02-881D-D0FDAFBC8F9E}"/>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B1A2DD6C-0475-418A-A32D-D999C4619491}"/>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B10CFE8C-F5DD-45C6-9F33-A43A2C4FEBD4}"/>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455282192"/>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7a1ca8c20204e0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0668CF9-9096-4559-98DE-41FA72326F5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767F6627-89BD-4E29-B387-B6FD46F2C22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DC625632-6F1B-4164-8EAE-68851173348E}"/>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3f662c480fe487e"/>
          <a:stretch xmlns:a="http://schemas.openxmlformats.org/drawingml/2006/main"/>
        </p:blipFill>
        <p:spPr>
          <a:xfrm xmlns:a="http://schemas.openxmlformats.org/drawingml/2006/main">
            <a:off x="3714750" y="3034742"/>
            <a:ext cx="7867650" cy="1779117"/>
          </a:xfrm>
          <a:prstGeom xmlns:a="http://schemas.openxmlformats.org/drawingml/2006/main" prst="rect">
            <a:avLst/>
          </a:prstGeom>
        </p:spPr>
      </p:pic>
    </p:spTree>
    <p:extLst>
      <p:ext uri="{BB962C8B-B14F-4D97-AF65-F5344CB8AC3E}">
        <p14:creationId xmlns:p14="http://schemas.microsoft.com/office/powerpoint/2010/main" val="1592528268"/>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d96c10183e2466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DDC9B68-1A8B-4216-955D-3EF8F8624C7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02BFF717-51ED-4774-8396-46D4E15618C5}"/>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AB6F2765-2E4D-42CA-AB0D-CAFDDC097DAB}"/>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fcb2ff4a8ab426b"/>
          <a:stretch xmlns:a="http://schemas.openxmlformats.org/drawingml/2006/main"/>
        </p:blipFill>
        <p:spPr>
          <a:xfrm xmlns:a="http://schemas.openxmlformats.org/drawingml/2006/main">
            <a:off x="3714750" y="2734318"/>
            <a:ext cx="7867650" cy="2379964"/>
          </a:xfrm>
          <a:prstGeom xmlns:a="http://schemas.openxmlformats.org/drawingml/2006/main" prst="rect">
            <a:avLst/>
          </a:prstGeom>
        </p:spPr>
      </p:pic>
    </p:spTree>
    <p:extLst>
      <p:ext uri="{BB962C8B-B14F-4D97-AF65-F5344CB8AC3E}">
        <p14:creationId xmlns:p14="http://schemas.microsoft.com/office/powerpoint/2010/main" val="894548960"/>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7f2277401884a5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00714D7-911F-44BC-9924-56B0E391E858}"/>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8463E9C6-0B40-4E1E-89E5-A2454025571F}"/>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2219F8C3-5E11-47EA-BDD2-8829BFA9A196}"/>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6e25dbb41aa4ce9"/>
          <a:stretch xmlns:a="http://schemas.openxmlformats.org/drawingml/2006/main"/>
        </p:blipFill>
        <p:spPr>
          <a:xfrm xmlns:a="http://schemas.openxmlformats.org/drawingml/2006/main">
            <a:off x="3714750" y="2711785"/>
            <a:ext cx="7867650" cy="2386930"/>
          </a:xfrm>
          <a:prstGeom xmlns:a="http://schemas.openxmlformats.org/drawingml/2006/main" prst="rect">
            <a:avLst/>
          </a:prstGeom>
        </p:spPr>
      </p:pic>
    </p:spTree>
    <p:extLst>
      <p:ext uri="{BB962C8B-B14F-4D97-AF65-F5344CB8AC3E}">
        <p14:creationId xmlns:p14="http://schemas.microsoft.com/office/powerpoint/2010/main" val="619940766"/>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890d86369244b9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C4B5D53-BE9C-400A-A572-54393D923C6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B82F9FED-6094-4655-BD61-CCE5E36F6BD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E86ACD38-B1BE-4CE7-8754-4676C2A69186}"/>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475a51eba4e4aa6"/>
          <a:stretch xmlns:a="http://schemas.openxmlformats.org/drawingml/2006/main"/>
        </p:blipFill>
        <p:spPr>
          <a:xfrm xmlns:a="http://schemas.openxmlformats.org/drawingml/2006/main">
            <a:off x="4358169" y="2000250"/>
            <a:ext cx="6866562" cy="3819525"/>
          </a:xfrm>
          <a:prstGeom xmlns:a="http://schemas.openxmlformats.org/drawingml/2006/main" prst="rect">
            <a:avLst/>
          </a:prstGeom>
        </p:spPr>
      </p:pic>
    </p:spTree>
    <p:extLst>
      <p:ext uri="{BB962C8B-B14F-4D97-AF65-F5344CB8AC3E}">
        <p14:creationId xmlns:p14="http://schemas.microsoft.com/office/powerpoint/2010/main" val="1562137240"/>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9c9080238e34a3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605E03D-A5F0-4B06-BB61-4D3EEC10F0BA}"/>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16FE274B-FD2E-4247-8291-E7FC4F250CA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7ECB474B-4BF1-47EC-9387-857033EAE1BC}"/>
              </a:ext>
            </a:extLst>
          </p:cNvPr>
          <p:cNvSpPr>
            <a:spLocks xmlns:a="http://schemas.openxmlformats.org/drawingml/2006/main" noGrp="1"/>
          </p:cNvSpPr>
          <p:nvPr/>
        </p:nvSpPr>
        <p:spPr>
          <a:xfrm xmlns:a="http://schemas.openxmlformats.org/drawingml/2006/main">
            <a:off x="609600" y="2238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Stages and elapsed time remain visible during processing.</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ffaf217b1cf4601"/>
          <a:stretch xmlns:a="http://schemas.openxmlformats.org/drawingml/2006/main"/>
        </p:blipFill>
        <p:spPr>
          <a:xfrm xmlns:a="http://schemas.openxmlformats.org/drawingml/2006/main">
            <a:off x="609600" y="3240376"/>
            <a:ext cx="10972800" cy="2110798"/>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3C170C84-4BA9-4FA6-B70F-A58EB441EE0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full MLE comparison is still in progress. Completed RRA reports follow.</a:t>
            </a:r>
          </a:p>
        </p:txBody>
      </p:sp>
    </p:spTree>
    <p:extLst>
      <p:ext uri="{BB962C8B-B14F-4D97-AF65-F5344CB8AC3E}">
        <p14:creationId xmlns:p14="http://schemas.microsoft.com/office/powerpoint/2010/main" val="1183347838"/>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fb9e9a960ed426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DB1369D-E839-435A-9010-217232C60EDA}"/>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2B900F2C-872B-4C28-9020-3E11CBC687E3}"/>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RRA validation batch</a:t>
            </a:r>
          </a:p>
        </p:txBody>
      </p:sp>
      <p:sp>
        <p:nvSpPr>
          <p:cNvPr id="4" name="text-3">
            <a:extLst xmlns:a="http://schemas.openxmlformats.org/drawingml/2006/main">
              <a:ext uri="{FF2B5EF4-FFF2-40B4-BE49-F238E27FC236}">
                <a16:creationId xmlns:a16="http://schemas.microsoft.com/office/drawing/2014/main" id="{32F17FF4-136D-4C55-A2EE-DD1B88D8D50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39d9ecd9e3d492a"/>
          <a:stretch xmlns:a="http://schemas.openxmlformats.org/drawingml/2006/main"/>
        </p:blipFill>
        <p:spPr>
          <a:xfrm xmlns:a="http://schemas.openxmlformats.org/drawingml/2006/main">
            <a:off x="609600" y="2224437"/>
            <a:ext cx="10972800" cy="319970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6529789E-50B8-4257-B34F-E8C9AE6277BF}"/>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178 candidates. 172 have artifact flags. The report retains the quality warning.</a:t>
            </a:r>
          </a:p>
        </p:txBody>
      </p:sp>
    </p:spTree>
    <p:extLst>
      <p:ext uri="{BB962C8B-B14F-4D97-AF65-F5344CB8AC3E}">
        <p14:creationId xmlns:p14="http://schemas.microsoft.com/office/powerpoint/2010/main" val="289919253"/>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a2786f54fe1471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93C0700-EDB7-439F-AE00-F10F63ADDBB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2BE88D17-2525-4DC2-98B7-FECCA134931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B3D3B634-1007-4EC2-AB5E-FF1136F1481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6b6fbbffe66440ba"/>
          </a:graphicData>
        </a:graphic>
      </p:graphicFrame>
      <p:sp>
        <p:nvSpPr>
          <p:cNvPr id="6" name="text-5">
            <a:extLst xmlns:a="http://schemas.openxmlformats.org/drawingml/2006/main">
              <a:ext uri="{FF2B5EF4-FFF2-40B4-BE49-F238E27FC236}">
                <a16:creationId xmlns:a16="http://schemas.microsoft.com/office/drawing/2014/main" id="{27A066F9-054A-4A09-9580-5E2940971880}"/>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1161493797"/>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a1a506d7795411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55FAA0B-3800-4D86-9F36-F950BE2A788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deserve a careful read</a:t>
            </a:r>
          </a:p>
        </p:txBody>
      </p:sp>
      <p:sp>
        <p:nvSpPr>
          <p:cNvPr id="3" name="text-2">
            <a:extLst xmlns:a="http://schemas.openxmlformats.org/drawingml/2006/main">
              <a:ext uri="{FF2B5EF4-FFF2-40B4-BE49-F238E27FC236}">
                <a16:creationId xmlns:a16="http://schemas.microsoft.com/office/drawing/2014/main" id="{760D731B-D654-4007-9C7B-5782AA6691B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a:t>
            </a:r>
          </a:p>
        </p:txBody>
      </p:sp>
      <p:sp>
        <p:nvSpPr>
          <p:cNvPr id="4" name="text-3">
            <a:extLst xmlns:a="http://schemas.openxmlformats.org/drawingml/2006/main">
              <a:ext uri="{FF2B5EF4-FFF2-40B4-BE49-F238E27FC236}">
                <a16:creationId xmlns:a16="http://schemas.microsoft.com/office/drawing/2014/main" id="{6C1ED8AF-3385-428C-B537-B47DF26360A3}"/>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571750"/>
                <a:gridCol w="3429000"/>
                <a:gridCol w="49720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log₂ fold change</a:t>
                      </a:r>
                    </a:p>
                  </a:txBody>
                  <a:tcPr marL="91440" marR="91440" marT="45720" marB="45720">
                    <a:solidFill>
                      <a:srgbClr val="24334B"/>
                    </a:solidFill>
                  </a:tcPr>
                </a:tc>
                <a:tc>
                  <a:txBody>
                    <a:bodyPr/>
                    <a:lstStyle/>
                    <a:p>
                      <a:r>
                        <a:rPr sz="2025" b="1">
                          <a:solidFill>
                            <a:srgbClr val="FFFFFF"/>
                          </a:solidFill>
                          <a:latin typeface="Inter"/>
                          <a:ea typeface="Inter"/>
                          <a:cs typeface="Inter"/>
                        </a:rPr>
                        <a:t>Native enrichment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0.889</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58386E4C-F3A8-4EC1-A760-5936BB9A71A5}"/>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fold changes do not establish significance</a:t>
            </a:r>
          </a:p>
        </p:txBody>
      </p:sp>
      <p:sp>
        <p:nvSpPr>
          <p:cNvPr id="7" name="text-6">
            <a:extLst xmlns:a="http://schemas.openxmlformats.org/drawingml/2006/main">
              <a:ext uri="{FF2B5EF4-FFF2-40B4-BE49-F238E27FC236}">
                <a16:creationId xmlns:a16="http://schemas.microsoft.com/office/drawing/2014/main" id="{70F5452F-D7A8-4AE1-84E1-A81562A45B14}"/>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completed RRA batch does not call these genes significant. The paper used MLE and follow-up experiments.</a:t>
            </a:r>
          </a:p>
        </p:txBody>
      </p:sp>
    </p:spTree>
    <p:extLst>
      <p:ext uri="{BB962C8B-B14F-4D97-AF65-F5344CB8AC3E}">
        <p14:creationId xmlns:p14="http://schemas.microsoft.com/office/powerpoint/2010/main" val="1001134047"/>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1629a8398a14c8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F6B3D38-CA10-4F2A-8E2D-1515094A29B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EEFA0D95-FA0F-4F5B-A68E-2FE4B5671B9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3B0D44A7-32DB-4E8A-9F3F-AE7B01D8B1C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69fbf5e98fb4f8a"/>
          <a:stretch xmlns:a="http://schemas.openxmlformats.org/drawingml/2006/main"/>
        </p:blipFill>
        <p:spPr>
          <a:xfrm xmlns:a="http://schemas.openxmlformats.org/drawingml/2006/main">
            <a:off x="609600" y="3216069"/>
            <a:ext cx="7000875" cy="154981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66282F62-E70F-4D20-9951-DD1FFE99D4E6}"/>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1716276C-5EBE-46F7-9632-D585ACAB3466}"/>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runs.</a:t>
            </a:r>
          </a:p>
        </p:txBody>
      </p:sp>
    </p:spTree>
    <p:extLst>
      <p:ext uri="{BB962C8B-B14F-4D97-AF65-F5344CB8AC3E}">
        <p14:creationId xmlns:p14="http://schemas.microsoft.com/office/powerpoint/2010/main" val="321960667"/>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ebcef5c8722488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AF79E1F-462F-4CBC-9AEF-D5EA89E66A9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8F225C79-A11C-455A-B5B8-CED4DB528CD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7292E887-C05C-4ED0-BBDC-F6C36037FA9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9C803B3D-2972-4D8B-8569-F9D33860151F}"/>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4EB465ED-1360-4F9F-B04B-A1E14DC37654}"/>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A6B7323B-DD0D-4415-B603-F82A0242B9F9}"/>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109C62AB-DE63-4123-A135-901416888B97}"/>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621A62AF-8D21-40B0-A618-653AF80D3A6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only. Upload time excluded. Numerical agreement does not establish biological accuracy.</a:t>
            </a:r>
          </a:p>
        </p:txBody>
      </p:sp>
    </p:spTree>
    <p:extLst>
      <p:ext uri="{BB962C8B-B14F-4D97-AF65-F5344CB8AC3E}">
        <p14:creationId xmlns:p14="http://schemas.microsoft.com/office/powerpoint/2010/main" val="1066033965"/>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14b6cd7eba3420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B961FB2-70C1-42F9-B7DC-F1CADC8D5CD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DEF17601-1AF5-4480-A0BE-9BAE08E155B3}"/>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DFE9C937-445A-4A8E-892A-3426BFD6904B}"/>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Extra study context</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Publication-held-out Atlas context</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F9787599-D3A6-4F93-B3C0-C6DDFFBA4E36}"/>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860176191"/>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497843abe0948d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D4B89C0-FE15-405C-A7C7-3270DEA245F9}"/>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744E0C6F-90C0-4AAA-A90B-7C3973A9AD2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300BF6D2-E782-42E1-AF53-84CD1CA6AFD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DEF7D164-FBDC-4546-9D54-8C02C1CAE45B}"/>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1069653426"/>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7517837331448f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6E4D513-CE4C-478E-9BBF-5FB019F4514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431996C6-9DA5-4459-99C7-FDF71CC9F4A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B65F44FC-056F-48C8-86CF-DDF1C2B59ACE}"/>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f00ac832b764865"/>
          <a:stretch xmlns:a="http://schemas.openxmlformats.org/drawingml/2006/main"/>
        </p:blipFill>
        <p:spPr>
          <a:xfrm xmlns:a="http://schemas.openxmlformats.org/drawingml/2006/main">
            <a:off x="3905250" y="3379082"/>
            <a:ext cx="7677150" cy="1052337"/>
          </a:xfrm>
          <a:prstGeom xmlns:a="http://schemas.openxmlformats.org/drawingml/2006/main" prst="rect">
            <a:avLst/>
          </a:prstGeom>
        </p:spPr>
      </p:pic>
    </p:spTree>
    <p:extLst>
      <p:ext uri="{BB962C8B-B14F-4D97-AF65-F5344CB8AC3E}">
        <p14:creationId xmlns:p14="http://schemas.microsoft.com/office/powerpoint/2010/main" val="171691097"/>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7864f249773473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4B7A019-72C2-4CFC-8159-BEE28174AE6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8D7FCBA1-54D9-4F3C-A7E0-5D20B843E0F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BA818179-1412-4B64-A51E-9A244C0483C0}"/>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7B529DD5-F1A3-4486-919C-421E061FEC78}"/>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49CAE751-3A02-4458-A271-4DEF9D52506D}"/>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1051638806"/>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f5e19ff6f5f4ed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0EAB81E-F227-4281-A5CA-B23980F5E12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AF4172C8-054C-4F77-9EE2-6C739B48DF11}"/>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5877A0C7-5E92-4541-8BE2-5D27EA920C8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DE789261-7042-4637-9F30-00AAC6806EBE}"/>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DFB214E1-03D1-4873-800E-D03CC49871F7}"/>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reports with separate directional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numerical reproduction</a:t>
            </a:r>
          </a:p>
        </p:txBody>
      </p:sp>
      <p:sp>
        <p:nvSpPr>
          <p:cNvPr id="7" name="text-6">
            <a:extLst xmlns:a="http://schemas.openxmlformats.org/drawingml/2006/main">
              <a:ext uri="{FF2B5EF4-FFF2-40B4-BE49-F238E27FC236}">
                <a16:creationId xmlns:a16="http://schemas.microsoft.com/office/drawing/2014/main" id="{7813503E-5225-4B66-8C25-DD80148618D5}"/>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D0F1A6C7-D281-41CA-BA4E-CDCFB2BA4B91}"/>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50C4C0CB-A220-40DA-BF68-F416135785B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187837311"/>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c61e1f8b34b4ea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6309011-1B4B-4DDE-8DC8-812E1FD2CE9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4CB6B143-93D9-4C19-BF52-BECA83F0BBC5}"/>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D684C618-1929-46F4-9E25-28972DB51B8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80D7D433-1F16-4CDE-AD09-4F1970F00279}"/>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4F725F7C-98D9-4268-AF01-A22B727CF10B}"/>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result packages</a:t>
            </a:r>
          </a:p>
        </p:txBody>
      </p:sp>
      <p:sp>
        <p:nvSpPr>
          <p:cNvPr id="7" name="text-6">
            <a:extLst xmlns:a="http://schemas.openxmlformats.org/drawingml/2006/main">
              <a:ext uri="{FF2B5EF4-FFF2-40B4-BE49-F238E27FC236}">
                <a16:creationId xmlns:a16="http://schemas.microsoft.com/office/drawing/2014/main" id="{93197D0C-76BA-4441-9729-153C81D6261A}"/>
              </a:ext>
            </a:extLst>
          </p:cNvPr>
          <p:cNvSpPr>
            <a:spLocks xmlns:a="http://schemas.openxmlformats.org/drawingml/2006/main" noGrp="1"/>
          </p:cNvSpPr>
          <p:nvPr/>
        </p:nvSpPr>
        <p:spPr>
          <a:xfrm xmlns:a="http://schemas.openxmlformats.org/drawingml/2006/main">
            <a:off x="609600" y="52482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4F62"/>
                </a:solidFill>
                <a:latin typeface="Instrument Serif"/>
                <a:ea typeface="Instrument Serif"/>
                <a:cs typeface="Instrument Serif"/>
              </a:defRPr>
            </a:pPr>
            <a:r>
              <a:rPr sz="3450" b="0">
                <a:solidFill>
                  <a:srgbClr val="174F62"/>
                </a:solidFill>
                <a:latin typeface="Instrument Serif"/>
                <a:ea typeface="Instrument Serif"/>
                <a:cs typeface="Instrument Serif"/>
              </a:rPr>
              <a:t>splicr.org</a:t>
            </a:r>
          </a:p>
        </p:txBody>
      </p:sp>
      <p:sp>
        <p:nvSpPr>
          <p:cNvPr id="8" name="text-7">
            <a:extLst xmlns:a="http://schemas.openxmlformats.org/drawingml/2006/main">
              <a:ext uri="{FF2B5EF4-FFF2-40B4-BE49-F238E27FC236}">
                <a16:creationId xmlns:a16="http://schemas.microsoft.com/office/drawing/2014/main" id="{743A063C-5A20-4AC6-9A6E-09757460BF1B}"/>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Primary references and full provenance appear in the speaker notes and the accompanying guide.</a:t>
            </a:r>
          </a:p>
        </p:txBody>
      </p:sp>
    </p:spTree>
    <p:extLst>
      <p:ext uri="{BB962C8B-B14F-4D97-AF65-F5344CB8AC3E}">
        <p14:creationId xmlns:p14="http://schemas.microsoft.com/office/powerpoint/2010/main" val="11755171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2026-10-07T17:17:21.0170000Z</dcterms:created>
  <dcterms:modified xsi:type="dcterms:W3CDTF">2026-10-07T17:17:21.0170000Z</dcterms:modified>
</coreProperties>
</file>