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f4f9d5246e94651" /><Relationship Type="http://schemas.openxmlformats.org/officeDocument/2006/relationships/extended-properties" Target="/docProps/app.xml" Id="R7d91ac20f48844d1" /><Relationship Type="http://schemas.openxmlformats.org/officeDocument/2006/relationships/officeDocument" Target="/ppt/presentation.xml" Id="R12443282fa434d90" /></Relationships>
</file>

<file path=ppt/presentation.xml><?xml version="1.0" encoding="utf-8"?>
<p:presentation xmlns:p="http://schemas.openxmlformats.org/presentationml/2006/main">
  <p:sldMasterIdLst>
    <p:sldMasterId xmlns:r="http://schemas.openxmlformats.org/officeDocument/2006/relationships" id="2147483648" r:id="Rb8f796a02fbd4ff6"/>
  </p:sldMasterIdLst>
  <p:notesMasterIdLst>
    <p:notesMasterId xmlns:r="http://schemas.openxmlformats.org/officeDocument/2006/relationships" r:id="Rb3edc3c02d764181"/>
  </p:notesMasterIdLst>
  <p:sldIdLst>
    <p:sldId xmlns:r="http://schemas.openxmlformats.org/officeDocument/2006/relationships" id="256" r:id="R83df8d800f3a4977"/>
    <p:sldId xmlns:r="http://schemas.openxmlformats.org/officeDocument/2006/relationships" id="257" r:id="R1ad7379e343042b7"/>
    <p:sldId xmlns:r="http://schemas.openxmlformats.org/officeDocument/2006/relationships" id="258" r:id="R1208e1c31631469c"/>
    <p:sldId xmlns:r="http://schemas.openxmlformats.org/officeDocument/2006/relationships" id="259" r:id="R5cd1b4eeaa874bfd"/>
    <p:sldId xmlns:r="http://schemas.openxmlformats.org/officeDocument/2006/relationships" id="260" r:id="R40e06e57cb8d45cb"/>
    <p:sldId xmlns:r="http://schemas.openxmlformats.org/officeDocument/2006/relationships" id="261" r:id="Rbd9b2637656245a2"/>
    <p:sldId xmlns:r="http://schemas.openxmlformats.org/officeDocument/2006/relationships" id="262" r:id="Rbb4780c60a604e3a"/>
    <p:sldId xmlns:r="http://schemas.openxmlformats.org/officeDocument/2006/relationships" id="263" r:id="Ra72204bc91204c7d"/>
    <p:sldId xmlns:r="http://schemas.openxmlformats.org/officeDocument/2006/relationships" id="264" r:id="R25201c251f924ee0"/>
    <p:sldId xmlns:r="http://schemas.openxmlformats.org/officeDocument/2006/relationships" id="265" r:id="Ra39f118eea6e4a0f"/>
    <p:sldId xmlns:r="http://schemas.openxmlformats.org/officeDocument/2006/relationships" id="266" r:id="R865e5670ed62437d"/>
    <p:sldId xmlns:r="http://schemas.openxmlformats.org/officeDocument/2006/relationships" id="267" r:id="R1c5801eb856d4b29"/>
    <p:sldId xmlns:r="http://schemas.openxmlformats.org/officeDocument/2006/relationships" id="268" r:id="Re36cdaa3a3b54d0a"/>
    <p:sldId xmlns:r="http://schemas.openxmlformats.org/officeDocument/2006/relationships" id="269" r:id="Rbe8a982f0e9e440e"/>
    <p:sldId xmlns:r="http://schemas.openxmlformats.org/officeDocument/2006/relationships" id="270" r:id="R1bb80d7fac104821"/>
    <p:sldId xmlns:r="http://schemas.openxmlformats.org/officeDocument/2006/relationships" id="271" r:id="R1027c18a9ea649d1"/>
    <p:sldId xmlns:r="http://schemas.openxmlformats.org/officeDocument/2006/relationships" id="272" r:id="Re8252248973d4cab"/>
    <p:sldId xmlns:r="http://schemas.openxmlformats.org/officeDocument/2006/relationships" id="273" r:id="R12ff0ca4833a499c"/>
    <p:sldId xmlns:r="http://schemas.openxmlformats.org/officeDocument/2006/relationships" id="274" r:id="R32f25ea07cbf4256"/>
    <p:sldId xmlns:r="http://schemas.openxmlformats.org/officeDocument/2006/relationships" id="275" r:id="R9795dab8f30e42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2062ef9a3a4cd4" /><Relationship Type="http://schemas.openxmlformats.org/officeDocument/2006/relationships/slideMaster" Target="/ppt/slideMasters/slideMaster1.xml" Id="Rb8f796a02fbd4ff6" /><Relationship Type="http://schemas.openxmlformats.org/officeDocument/2006/relationships/notesMaster" Target="/ppt/notesMasters/notesMaster1.xml" Id="Rb3edc3c02d764181" /><Relationship Type="http://schemas.openxmlformats.org/officeDocument/2006/relationships/presProps" Target="/ppt/presProps.xml" Id="R8f14489d345144b0" /><Relationship Type="http://schemas.openxmlformats.org/officeDocument/2006/relationships/tableStyles" Target="/ppt/tableStyles.xml" Id="Ree25deb5dfc94c06" /><Relationship Type="http://schemas.openxmlformats.org/officeDocument/2006/relationships/slide" Target="/ppt/slides/slide1.xml" Id="R83df8d800f3a4977" /><Relationship Type="http://schemas.openxmlformats.org/officeDocument/2006/relationships/slide" Target="/ppt/slides/slide2.xml" Id="R1ad7379e343042b7" /><Relationship Type="http://schemas.openxmlformats.org/officeDocument/2006/relationships/slide" Target="/ppt/slides/slide3.xml" Id="R1208e1c31631469c" /><Relationship Type="http://schemas.openxmlformats.org/officeDocument/2006/relationships/slide" Target="/ppt/slides/slide4.xml" Id="R5cd1b4eeaa874bfd" /><Relationship Type="http://schemas.openxmlformats.org/officeDocument/2006/relationships/slide" Target="/ppt/slides/slide5.xml" Id="R40e06e57cb8d45cb" /><Relationship Type="http://schemas.openxmlformats.org/officeDocument/2006/relationships/slide" Target="/ppt/slides/slide6.xml" Id="Rbd9b2637656245a2" /><Relationship Type="http://schemas.openxmlformats.org/officeDocument/2006/relationships/slide" Target="/ppt/slides/slide7.xml" Id="Rbb4780c60a604e3a" /><Relationship Type="http://schemas.openxmlformats.org/officeDocument/2006/relationships/slide" Target="/ppt/slides/slide8.xml" Id="Ra72204bc91204c7d" /><Relationship Type="http://schemas.openxmlformats.org/officeDocument/2006/relationships/slide" Target="/ppt/slides/slide9.xml" Id="R25201c251f924ee0" /><Relationship Type="http://schemas.openxmlformats.org/officeDocument/2006/relationships/slide" Target="/ppt/slides/slide10.xml" Id="Ra39f118eea6e4a0f" /><Relationship Type="http://schemas.openxmlformats.org/officeDocument/2006/relationships/slide" Target="/ppt/slides/slide11.xml" Id="R865e5670ed62437d" /><Relationship Type="http://schemas.openxmlformats.org/officeDocument/2006/relationships/slide" Target="/ppt/slides/slide12.xml" Id="R1c5801eb856d4b29" /><Relationship Type="http://schemas.openxmlformats.org/officeDocument/2006/relationships/slide" Target="/ppt/slides/slide13.xml" Id="Re36cdaa3a3b54d0a" /><Relationship Type="http://schemas.openxmlformats.org/officeDocument/2006/relationships/slide" Target="/ppt/slides/slide14.xml" Id="Rbe8a982f0e9e440e" /><Relationship Type="http://schemas.openxmlformats.org/officeDocument/2006/relationships/slide" Target="/ppt/slides/slide15.xml" Id="R1bb80d7fac104821" /><Relationship Type="http://schemas.openxmlformats.org/officeDocument/2006/relationships/slide" Target="/ppt/slides/slide16.xml" Id="R1027c18a9ea649d1" /><Relationship Type="http://schemas.openxmlformats.org/officeDocument/2006/relationships/slide" Target="/ppt/slides/slide17.xml" Id="Re8252248973d4cab" /><Relationship Type="http://schemas.openxmlformats.org/officeDocument/2006/relationships/slide" Target="/ppt/slides/slide18.xml" Id="R12ff0ca4833a499c" /><Relationship Type="http://schemas.openxmlformats.org/officeDocument/2006/relationships/slide" Target="/ppt/slides/slide19.xml" Id="R32f25ea07cbf4256" /><Relationship Type="http://schemas.openxmlformats.org/officeDocument/2006/relationships/slide" Target="/ppt/slides/slide20.xml" Id="R9795dab8f30e42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4ddc9f838d4f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58b39d4e7a470a" /><Relationship Type="http://schemas.openxmlformats.org/officeDocument/2006/relationships/notesMaster" Target="/ppt/notesMasters/notesMaster1.xml" Id="Rfb8d0d5a2a6241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ef87cd05344aea" /><Relationship Type="http://schemas.openxmlformats.org/officeDocument/2006/relationships/notesMaster" Target="/ppt/notesMasters/notesMaster1.xml" Id="R21c11a2f55134c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17381026d64caf" /><Relationship Type="http://schemas.openxmlformats.org/officeDocument/2006/relationships/notesMaster" Target="/ppt/notesMasters/notesMaster1.xml" Id="R4dd9f37eeec345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9848fff4e34c7d" /><Relationship Type="http://schemas.openxmlformats.org/officeDocument/2006/relationships/notesMaster" Target="/ppt/notesMasters/notesMaster1.xml" Id="R7ea68c0a54424f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ecebc1cb5f446d" /><Relationship Type="http://schemas.openxmlformats.org/officeDocument/2006/relationships/notesMaster" Target="/ppt/notesMasters/notesMaster1.xml" Id="R716f306fa53a49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e22b2bbff44734" /><Relationship Type="http://schemas.openxmlformats.org/officeDocument/2006/relationships/notesMaster" Target="/ppt/notesMasters/notesMaster1.xml" Id="R3fdcdbb82a3747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37dd72ffa844d1" /><Relationship Type="http://schemas.openxmlformats.org/officeDocument/2006/relationships/notesMaster" Target="/ppt/notesMasters/notesMaster1.xml" Id="R05f81cad434347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b28aff11734d94" /><Relationship Type="http://schemas.openxmlformats.org/officeDocument/2006/relationships/notesMaster" Target="/ppt/notesMasters/notesMaster1.xml" Id="Ra980634ff6c848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be19ea86e846f6" /><Relationship Type="http://schemas.openxmlformats.org/officeDocument/2006/relationships/notesMaster" Target="/ppt/notesMasters/notesMaster1.xml" Id="R7c10b74c0fd944c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c35da883ea94a0f" /><Relationship Type="http://schemas.openxmlformats.org/officeDocument/2006/relationships/notesMaster" Target="/ppt/notesMasters/notesMaster1.xml" Id="R9e3e09a7d48f456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9e65b0d50024b12" /><Relationship Type="http://schemas.openxmlformats.org/officeDocument/2006/relationships/notesMaster" Target="/ppt/notesMasters/notesMaster1.xml" Id="R72f22799dcf8483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87784b5dd8f4821" /><Relationship Type="http://schemas.openxmlformats.org/officeDocument/2006/relationships/notesMaster" Target="/ppt/notesMasters/notesMaster1.xml" Id="R928c4808c498428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54952513f984a92" /><Relationship Type="http://schemas.openxmlformats.org/officeDocument/2006/relationships/notesMaster" Target="/ppt/notesMasters/notesMaster1.xml" Id="R593f1dc294554c6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c373406a2db4f74" /><Relationship Type="http://schemas.openxmlformats.org/officeDocument/2006/relationships/notesMaster" Target="/ppt/notesMasters/notesMaster1.xml" Id="R607c66f970d74c8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49497f4dd3f46ff" /><Relationship Type="http://schemas.openxmlformats.org/officeDocument/2006/relationships/notesMaster" Target="/ppt/notesMasters/notesMaster1.xml" Id="R3d2b36d351274a3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418b992ec96422a" /><Relationship Type="http://schemas.openxmlformats.org/officeDocument/2006/relationships/notesMaster" Target="/ppt/notesMasters/notesMaster1.xml" Id="R73e7418ec6b042a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096b26bae5d4093" /><Relationship Type="http://schemas.openxmlformats.org/officeDocument/2006/relationships/notesMaster" Target="/ppt/notesMasters/notesMaster1.xml" Id="Rf8ced2e48351431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823e308a68b4012" /><Relationship Type="http://schemas.openxmlformats.org/officeDocument/2006/relationships/notesMaster" Target="/ppt/notesMasters/notesMaster1.xml" Id="R1b729ddef5ec423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f0e4e75b7874318" /><Relationship Type="http://schemas.openxmlformats.org/officeDocument/2006/relationships/notesMaster" Target="/ppt/notesMasters/notesMaster1.xml" Id="R0a9fa0e933b345d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f023f3329e34eee" /><Relationship Type="http://schemas.openxmlformats.org/officeDocument/2006/relationships/notesMaster" Target="/ppt/notesMasters/notesMaster1.xml" Id="R2a7c4630a7444b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Sahaj Satani, Pranav Mettu and Ishaan Samantray are Cornell students who built SplicR. This is a discussion of the lab's published A549 LKB1 CRISPR data and an actual deployed reanalysis. The Cornell affiliation identifies the students and does not imply institutional endorsement. Paper: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Ferrarone et al., PNAS 2024, https://doi.org/10.1073/pnas.2403685121. Full title: Genome-wide CRISPR screens in spheroid culture reveal that the tumor suppressor LKB1 inhibits growth via the PIKFYVE lipid kinase. LKB1 is a tumor suppressor. In this study restoring LKB1 restrains growth more strongly in spheroid culture. The screen and follow-up experiments implicate the PIKFYVE complex and growth factor receptor trafficking. The image is the authors' complete, unmodified Figure 4, used here to discuss their experiments. Red fluorescence reports internalized EGF, not a SplicR prediction. Panels D–F concern a mouse tumor cell line, not the uploaded A549 CRISPR count tables. Copyright 2024 the authors, CC BY-NC-ND 4.0. Keep the attribution with the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https://doi.org/10.1073/pnas.2403685121. Dataset: https://doi.org/10.7910/DVN/8DEPIT. A549 is a human lung adenocarcinoma cell line. EV is the empty-vector, LKB1-null arm. WT restores wild-type LKB1. Both culture conditions have two day-21 endpoint samples per arm, labeled a and b. The count tables share one identical plasmid library reference. It is neither a biological replicate nor a cellular day-zero sample. Two separate culture analyses do not establish a formal culture-by-genotype interaction. The TKOv3 library is Addgene 90294.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manifest and original archive metadata are in source-manifest.json and dataverse-metadata.json. MD5 and file sizes match Harvard Dataverse V1 exactly for both user downloads. The two tables contain the same 70,116 unique guide IDs and identical plasmid counts. Every observed guide matches the TKOv3 reference. The reference has 71,090 guides, so 974 reference guides are absent from these deposited tables. SplicR retains all deposited guide rows and does not fabricate missing rows. Each table contains 104 rows whose Gene label resembles an Excel date conversion. Joining exact guide IDs to TKOv3 restores reference gene labels, yielding 18,049 observed target labels. Those are the library's historical annotations, not a claim of current HGNC harmonization. Archive: https://doi.org/10.7910/DVN/8DEPIT.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upload at https://www.splicr.org. Sources: https://doi.org/10.7910/DVN/8DEPIT. Download URLs: https://dataverse.harvard.edu/api/access/datafile/7440985 (2D) and https://dataverse.harvard.edu/api/access/datafile/7440983 (spheroid). The prepared ZIP contains the two original files with their bytes unchanged. The archive also contains eight FASTQ files. Reprocessing those would be a separate sequencing alignment analysis, requiring the original trimming/alignment settings and plasmid reference information. Upload inspection does not dispatch an analysis job. No new analysis was launched while capturing these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matches guide IDs against hosted TKOv3. Canonical library membership and complete row checks matter more than file-name guesses. The exact Ferrarone profile additionally requires both source checksums, the exact sample schemas and 70,116 rows. A renamed or modified file does not inherit this verified study profile. For other files, library candidates use evidence from guides or sampled sequences and ambiguous mappings require review. All 70,116 observed guide IDs match; 974 library reference guides are not in the deposited count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suggests six independent comparisons from the verified study profile. The two plasmid contrasts per culture are loss-of-function fitness comparisons. WT versus EV is a genotype contrast, not a drug contrast. The profile disables DrugZ for this experiment and does not pool 2D with spheroid samples. Researchers can edit names, selected samples and comparison definitions before launching. Culture-specific significance alone is not a formal interaction test. These comparisons are an explicitly declared reanalysis, not a recovery of unpublished original command 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configuration screenshot shows the default reviewed RRA+MLE plan. The completed demonstration results in later slides are a separate RRA-only validation batch. All six full RRA+MLE runs subsequently completed and their complete exports were verified. MLE uses a valid explicit baseline/treatment design, seed 0 and 10 permutation rounds in MAGeCK 0.5.9.5. The UI permits normalization and FDR customization, explicit MLE matrices and coefficients, optional BAGEL2 for compatible fitness comparisons and paired DrugZ for matched drug arms. BAGEL2, DrugZ, Chronos and copy-number correction are not part of this completed RRA demo. TKOv3 has no annotated non-targeting controls, so control-guide normalization requires an explicit suitable reference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of an existing full-genome MLE analysis. The progress bar records completed stages, not percentage of compute time or a promised finish time. This screenshot was captured during hit calling; all six full MLE runs have since completed. Some other existing MLE runs encountered count-write database timeouts and retried. Retry startup now resets stale stage records, and bulk writes use bounded COPY batches with a transaction-local timeout. Full MLE computation is complete; reconciliation with the authors’ settings and nomination criteria remains open. Frontend realtime events and a five-second polling fallback read Supabase run and stage records. Cloudflare R2 stores input objects, Supabase stores metadata and results, and Modal executes analysis. The screenshot is a dated snapshot. No new analysis job was submitted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full RRA+MLE report for spheroid WT versus plasmid. The primary candidate count uses RRA, with MLE statistics retained separately. 18,049 genes have recorded statistics. 178 pass the SplicR two-direction FDR threshold 0.05, of which 172 have at least one artifact flag. Flags prompt inspection and do not automatically disprove a gene. QC warns about replicate disagreement and count skew. No gene has recorded bench validation in this workspace. Numerical completion is not biological validation. All six completed RRA reports passed live API and browser export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rra-cloud/comparison-summary.csv. Each comparison scores 18,049 genes. Counts at SplicR's two-direction FDR &lt;= 0.05 are 205,271,0,159,178,0 in the displayed order. SplicR preserves both MAGeCK directional FDRs and reports min(1,2*min(q_depleted,q_enriched)) as a conservative union bound. This differs from independently counting either native directional FDR below 0.05. The chart is a result of the declared RRA configuration, not a reproduction of the authors' MLE beta-score figure. All six reports carry QC warnings. Zero significant genes in a WT versus EV comparison does not establish absence of a biological effect.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 full RRA+MLE run, spheroid WT versus plasmid: FIG4 RRA log2 fold change 3.1413, MLE beta 1.8331 and MLE FDR 0.57554; VAC14 LFC 4.9627, beta 3.211 and FDR 0.19162; PIKFYVE LFC 0.40606, beta 0.43846 and FDR 0.99966. Values rounded only for display. None passes the declared RRA or MLE FDR threshold 0.05 here. Spheroid EV-versus-plasmid MLE beta values are FIG4 1.1152, VAC14 -0.031009 and PIKFYVE 0.37959. VAC14 meets both published WT-enriched/EV-low beta thresholds, but FIG4 does not meet their EV-low cutoff in this separately fitted design. The paper’s methods use WT beta &gt;0.5 / EV &lt;0.5 for pathway analysis; its Figure 3 caption uses &gt;1 / &lt;1. That discrepancy, original normalization, guide filtering and joint design need investigator clarification. The authors used MLE beta nomination and wet-lab follow-up; beta criteria and FDR calls are different evidence criteria. PIKFYVE guides were not enriched in WT spheroids in the paper, and pharmacological/rescue experiments established its role. These results do not establish exact reproduction or superior biology. Sources: full reference-gene-statistics.csv and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of the recorded report's provenance and export controls. The CSV was downloaded by clicking the production UI, and its contents include all 18,049 gene rows with source/run metadata and separate RRA and MLE fields. The full run includes complete separate RRA and MLE statistics for every scored gene. Older RRA-only exports keep unavailable MLE fields blank, not zero. JSON exposes sample_data=false, workspace source, untruncated rows, settings and stages. The downloadable full-results bundle includes six RRA+MLE CSVs, six receipts, original-source checksums, independent agreement and a reference-gene audit. This is a saved analysis package, not a final claim of biological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 receipts record six RRA jobs with worker durations 123.091,107.553,107.435,96.616,126.319,110.712 seconds. The first worker started 2026-10-07T16:22:43.148Z and the final worker finished 16:28:45.299Z, giving 362.151 seconds (6 minutes 2 seconds after rounding). This is elapsed worker cohort time and excludes upload/inspection and pre-start waiting. These jobs used the count-table pipeline, not raw FASTQ alignment, and excluded MLE. The initial full MLE cohort subsequently completed in 18,316.696 elapsed seconds (5 hours 5 minutes), including retries and its original worker allocation. This is a separate method/runtime, not the six-minute RRA result. It excludes upload and pre-start waiting. Independent local RRA matched cloud LFC, both native directional FDRs and union FDR across all 18,049 genes in every comparison with maximum absolute difference 0. This establishes numerical reproducibility for the declared inputs/configuration, not accuracy against biological truth. The authors do not report a comparable compute runtime, so no speed multiple against them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checked 2026-10-07: Broad's post-screen page https://portals.broadinstitute.org/gpp/public/resources/post-screen and Apron guide https://docs.google.com/document/d/14ry2-S3zWCwJVZzxS2QLSdNGqyl6QaFK7rhkcyh7jXU/preview. Apron is a guided web app with QC, replicate exploration, plots and downloadable gene lists. It is optimized for PoolQ counts with .chip annotations and supports other formatted inputs. Its documented target aggregation uses Stouffer z-scores and an empirical null from control constructs. Its guide supports manual reference and replicate definitions and multiple data configurations. SplicR's tested Ferrarone flow adds exact source identification, guide-ID annotation repair and automatic six-comparison suggestions. SplicR uses MAGeCK RRA plus optional MLE, preserving separate statistics. These are workflow differences, not an experimentally measured accuracy or usability victory. We did not run Apron on these files or benchmark its runtime. The Broad GPP page documents CRISPRko/a/i with Cas9/Cas12a for single-gene constructs, broader than the Cas9 knockout evidence in this particular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official MAGeCK documentation https://sourceforge.net/p/mageck/wiki/usage/ and the original PinAPL-Py paper https://www.nature.com/articles/s41598-017-16193-9. MAGeCK offers mature RRA/MLE analysis and explicit design matrices via command line. PinAPL-Py already offers a web interface, automated adapter-based guide extraction, custom libraries, QC and adjustable ranking. The comparison describes those published capabilities and does not establish that their hosted services are currently operational. SplicR's implemented role is a shared research workflow around established statistical methods with source recognition, reviewable configuration, guide-level evidence and saved receipts. Interface convenience, model prediction, statistical significance and biological validation are different dimensions. No head-to-head performance or accuracy ranking was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editable sample-metadata screenshot. Tested customization includes custom uploaded guide libraries, correction of selected count columns, donors, replicate labels, dates, researcher attribution, saved draft resumption and FASTQ reads with adapter prefixes. Backend validation checks treatment/control selections, matched replicate requirements for paired DrugZ, normalization controls, MLE design rank and selected coefficients. The exact Ferrarone profile is a special verified study profile, while the generic intake uses evidence-based suggestions and review. This demonstration validates human Cas9 knockout pooled abundance counts; it does not validate every organism, modality or assay. Base editing, multi-gene combinatorial perturbations, single-cell readouts and spatial assays need dedicated models and separate validation. Chronos and copy-number correction are unavailable in this intake because required metadata/profiles are not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next step for discussion, not a commitment from the lab. Ask the investigators to confirm original normalization, guide filtering, MLE design, permutation settings and complete output tables. Compare a frozen SplicR run to a frozen reference workflow on agreed genes and statistics. Evaluate whether differences are expected methodological effects or defects. Measure analyst time and review burden directly rather than estimating historical authors' work. Choose one new screen with known positive/negative controls and a small follow-up validation set. Prospective validation, not a polished dashboard, determines scientific benefit. No investigator was emailed and no new analysis job was queued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https://doi.org/10.1073/pnas.2403685121, https://doi.org/10.7910/DVN/8DEPIT, https://sourceforge.net/p/mageck/wiki/usage/. Reanalysis uses deposited count tables, exact TKOv3 guide-ID annotation, MAGeCK 0.5.9.5, median normalization, RRA union FDR threshold 0.05. It retains all deposited guide rows and does not recreate the authors' Cutadapt/Bowtie processing or unspecified implementation of the read-count &lt;30 filter. Authors' methods describe that filter but not which samples define it. MLE runs use explicit baseline-first design, seed 0, 10 permutation rounds and grouped permutations. We did not reduce permutation rounds to claim a faster run. Copy-number correction, Chronos, BAGEL2 and DrugZ are off in this study's completed RRA cohort. Core essential separation supports count-table fitness QC, but replicate disagreement and skew remain warnings. Count tables cannot establish sequencing mapping efficiency. Atlas comparison excludes the query publication to limit leakage. The validation network has no fitted outcomes cohort on this deployed worker and refuses probabilities with a reason. Missing predictions and absent methods must stay unavailable. Separate WT/EV culture tests do not establish a culture interaction.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research: Ferrarone et al., PNAS 2024, https://doi.org/10.1073/pnas.2403685121. Harvard Dataverse CRISPR dataset V1: https://doi.org/10.7910/DVN/8DEPIT. 2D download https://dataverse.harvard.edu/api/access/datafile/7440985. Spheroid download https://dataverse.harvard.edu/api/access/datafile/7440983. Broad post-screen page: https://portals.broadinstitute.org/gpp/public/resources/post-screen. Apron primary user guide: https://docs.google.com/document/d/14ry2-S3zWCwJVZzxS2QLSdNGqyl6QaFK7rhkcyh7jXU/preview. MAGeCK official usage: https://sourceforge.net/p/mageck/wiki/usage/. PinAPL-Py original publication: https://www.nature.com/articles/s41598-017-16193-9. Local proof: source-manifest.json, gene-annotation-audit.csv, rra-cloud/cloud-verification.json, rra-cloud/independent-cloud-agreement.json, comparison-summary.csv, reference-gene-statistics.csv, production browser screenshots. SplicR production: https://www.splicr.org. Published Figure 4: Copyright 2024 the authors, CC BY-NC-ND 4.0, original complete figure retained for discussion. Do not treat the image as a SplicR-generated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8f05a7c1cd49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5980d8906c4697" /><Relationship Type="http://schemas.openxmlformats.org/officeDocument/2006/relationships/slideLayout" Target="/ppt/slideLayouts/slideLayout1.xml" Id="R3b5ae98b1d7c42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5ae98b1d7c42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4f789a3b3314770" /><Relationship Type="http://schemas.openxmlformats.org/officeDocument/2006/relationships/image" Target="/ppt/media/image.png" Id="Rb0c15abd644b4f36" /><Relationship Type="http://schemas.openxmlformats.org/officeDocument/2006/relationships/notesSlide" Target="/ppt/notesSlides/notesSlide1.xml" Id="Rd2fd355631d646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a77cd7bded841b5" /><Relationship Type="http://schemas.openxmlformats.org/officeDocument/2006/relationships/image" Target="/ppt/media/image2.png" Id="R7cf6a8296e414376" /><Relationship Type="http://schemas.openxmlformats.org/officeDocument/2006/relationships/image" Target="/ppt/media/image.jpeg" Id="Rf473a92d99794c5e" /><Relationship Type="http://schemas.openxmlformats.org/officeDocument/2006/relationships/notesSlide" Target="/ppt/notesSlides/notesSlide2.xml" Id="R968985006ea3457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c6c52a0d444414a" /><Relationship Type="http://schemas.openxmlformats.org/officeDocument/2006/relationships/image" Target="/ppt/media/image3.png" Id="Ra2447a295acf41b4" /><Relationship Type="http://schemas.openxmlformats.org/officeDocument/2006/relationships/notesSlide" Target="/ppt/notesSlides/notesSlide3.xml" Id="R40f465cd3d3b4c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cb55b9ad60c4f35" /><Relationship Type="http://schemas.openxmlformats.org/officeDocument/2006/relationships/image" Target="/ppt/media/image4.png" Id="R1f75e89449c14203" /><Relationship Type="http://schemas.openxmlformats.org/officeDocument/2006/relationships/notesSlide" Target="/ppt/notesSlides/notesSlide4.xml" Id="R73517545564f4d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7e46af76e7e4fd1" /><Relationship Type="http://schemas.openxmlformats.org/officeDocument/2006/relationships/image" Target="/ppt/media/image5.png" Id="R2a9ed4b006634d49" /><Relationship Type="http://schemas.openxmlformats.org/officeDocument/2006/relationships/image" Target="/ppt/media/image6.png" Id="R92ccdbcf820940f1" /><Relationship Type="http://schemas.openxmlformats.org/officeDocument/2006/relationships/notesSlide" Target="/ppt/notesSlides/notesSlide5.xml" Id="R3b4306802d7e4b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fdb49fcaf794fd1" /><Relationship Type="http://schemas.openxmlformats.org/officeDocument/2006/relationships/image" Target="/ppt/media/image7.png" Id="Rfa7e2ea65f5e411a" /><Relationship Type="http://schemas.openxmlformats.org/officeDocument/2006/relationships/image" Target="/ppt/media/image8.png" Id="Rf99cfa9d69b24372" /><Relationship Type="http://schemas.openxmlformats.org/officeDocument/2006/relationships/notesSlide" Target="/ppt/notesSlides/notesSlide6.xml" Id="R98066afeaf964d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4f49091032c407c" /><Relationship Type="http://schemas.openxmlformats.org/officeDocument/2006/relationships/image" Target="/ppt/media/image9.png" Id="Rcff292b9b93a4fd3" /><Relationship Type="http://schemas.openxmlformats.org/officeDocument/2006/relationships/image" Target="/ppt/media/image10.png" Id="R11807b0d8aca4161" /><Relationship Type="http://schemas.openxmlformats.org/officeDocument/2006/relationships/notesSlide" Target="/ppt/notesSlides/notesSlide7.xml" Id="R5e89c4631d134b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6ba3bf15f36445a" /><Relationship Type="http://schemas.openxmlformats.org/officeDocument/2006/relationships/image" Target="/ppt/media/image11.png" Id="Ra0f5f9f6b7654a47" /><Relationship Type="http://schemas.openxmlformats.org/officeDocument/2006/relationships/image" Target="/ppt/media/image12.png" Id="Rf69f59f40d444a79" /><Relationship Type="http://schemas.openxmlformats.org/officeDocument/2006/relationships/notesSlide" Target="/ppt/notesSlides/notesSlide8.xml" Id="Rde8dd900248a413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2dbda5e21914164" /><Relationship Type="http://schemas.openxmlformats.org/officeDocument/2006/relationships/image" Target="/ppt/media/image13.png" Id="Re3f8b757412b46bd" /><Relationship Type="http://schemas.openxmlformats.org/officeDocument/2006/relationships/image" Target="/ppt/media/image14.png" Id="Rd3a59eb7c76b453d" /><Relationship Type="http://schemas.openxmlformats.org/officeDocument/2006/relationships/notesSlide" Target="/ppt/notesSlides/notesSlide9.xml" Id="R70eec539067544a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1847499ff3342f8" /><Relationship Type="http://schemas.openxmlformats.org/officeDocument/2006/relationships/image" Target="/ppt/media/image15.png" Id="Rd1370e654956465d" /><Relationship Type="http://schemas.openxmlformats.org/officeDocument/2006/relationships/image" Target="/ppt/media/image16.png" Id="Rf898274aeae14be7" /><Relationship Type="http://schemas.openxmlformats.org/officeDocument/2006/relationships/notesSlide" Target="/ppt/notesSlides/notesSlide10.xml" Id="R99df41b0275244c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319296d961d4e64" /><Relationship Type="http://schemas.openxmlformats.org/officeDocument/2006/relationships/image" Target="/ppt/media/image17.png" Id="Rb7fdc8330e044c1b" /><Relationship Type="http://schemas.openxmlformats.org/officeDocument/2006/relationships/chart" Target="/ppt/slides/charts/chart1.xml" Id="R4ff25f9d58874d0f" /><Relationship Type="http://schemas.openxmlformats.org/officeDocument/2006/relationships/notesSlide" Target="/ppt/notesSlides/notesSlide11.xml" Id="Rd774e2a06e98468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d5e8d1d6ee3485f" /><Relationship Type="http://schemas.openxmlformats.org/officeDocument/2006/relationships/image" Target="/ppt/media/image18.png" Id="R9006c627ac2440d0" /><Relationship Type="http://schemas.openxmlformats.org/officeDocument/2006/relationships/notesSlide" Target="/ppt/notesSlides/notesSlide12.xml" Id="Rc363485dde9645f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158871a38964072" /><Relationship Type="http://schemas.openxmlformats.org/officeDocument/2006/relationships/image" Target="/ppt/media/image19.png" Id="R8c9d699a5cb842c2" /><Relationship Type="http://schemas.openxmlformats.org/officeDocument/2006/relationships/image" Target="/ppt/media/image20.png" Id="R277860e4569c4ac6" /><Relationship Type="http://schemas.openxmlformats.org/officeDocument/2006/relationships/notesSlide" Target="/ppt/notesSlides/notesSlide13.xml" Id="R4847c651a4b94b9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223f908497f4312" /><Relationship Type="http://schemas.openxmlformats.org/officeDocument/2006/relationships/image" Target="/ppt/media/image21.png" Id="Rcc2065d017864d00" /><Relationship Type="http://schemas.openxmlformats.org/officeDocument/2006/relationships/notesSlide" Target="/ppt/notesSlides/notesSlide14.xml" Id="R5a048ff1bf534ab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d36fd83280d4cd9" /><Relationship Type="http://schemas.openxmlformats.org/officeDocument/2006/relationships/image" Target="/ppt/media/image22.png" Id="R5a138f559abe4c03" /><Relationship Type="http://schemas.openxmlformats.org/officeDocument/2006/relationships/notesSlide" Target="/ppt/notesSlides/notesSlide15.xml" Id="Rea0339a0c251480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09c988c6e2f4a60" /><Relationship Type="http://schemas.openxmlformats.org/officeDocument/2006/relationships/image" Target="/ppt/media/image23.png" Id="R3db6d89f8c7f4069" /><Relationship Type="http://schemas.openxmlformats.org/officeDocument/2006/relationships/notesSlide" Target="/ppt/notesSlides/notesSlide16.xml" Id="Rdafce560a3e5495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ee1fbb4cf0c476e" /><Relationship Type="http://schemas.openxmlformats.org/officeDocument/2006/relationships/image" Target="/ppt/media/image24.png" Id="R00be0fe4590b4323" /><Relationship Type="http://schemas.openxmlformats.org/officeDocument/2006/relationships/image" Target="/ppt/media/image25.png" Id="R90d946bf85c349bd" /><Relationship Type="http://schemas.openxmlformats.org/officeDocument/2006/relationships/notesSlide" Target="/ppt/notesSlides/notesSlide17.xml" Id="R15c8a52660714f8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a6ce17670404bd3" /><Relationship Type="http://schemas.openxmlformats.org/officeDocument/2006/relationships/image" Target="/ppt/media/image26.png" Id="R5c17d30745db4c1f" /><Relationship Type="http://schemas.openxmlformats.org/officeDocument/2006/relationships/notesSlide" Target="/ppt/notesSlides/notesSlide18.xml" Id="R3292847b69fd484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3766700ed8a4e0b" /><Relationship Type="http://schemas.openxmlformats.org/officeDocument/2006/relationships/image" Target="/ppt/media/image27.png" Id="Rf0d63934a7154fe3" /><Relationship Type="http://schemas.openxmlformats.org/officeDocument/2006/relationships/notesSlide" Target="/ppt/notesSlides/notesSlide19.xml" Id="R0ba72897ee0549c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a46af69523143b4" /><Relationship Type="http://schemas.openxmlformats.org/officeDocument/2006/relationships/image" Target="/ppt/media/image28.png" Id="R58497db6ae964936" /><Relationship Type="http://schemas.openxmlformats.org/officeDocument/2006/relationships/notesSlide" Target="/ppt/notesSlides/notesSlide20.xml" Id="Rcff84691d802451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Candidates</c:v>
          </c:tx>
          <c:spPr>
            <a:solidFill xmlns:a="http://schemas.openxmlformats.org/drawingml/2006/main">
              <a:srgbClr val="174F62"/>
            </a:solidFill>
          </c:spPr>
          <c:cat>
            <c:strRef>
              <c:f>'Chart Data'!$A$2:$A$7</c:f>
              <c:strCache>
                <c:ptCount val="6"/>
                <c:pt idx="0">
                  <c:v>2D EV / plasmid</c:v>
                </c:pt>
                <c:pt idx="1">
                  <c:v>2D WT / plasmid</c:v>
                </c:pt>
                <c:pt idx="2">
                  <c:v>2D WT / EV</c:v>
                </c:pt>
                <c:pt idx="3">
                  <c:v>Spheroid EV / plasmid</c:v>
                </c:pt>
                <c:pt idx="4">
                  <c:v>Spheroid WT / plasmid</c:v>
                </c:pt>
                <c:pt idx="5">
                  <c:v>Spheroid WT / EV</c:v>
                </c:pt>
              </c:strCache>
            </c:strRef>
          </c:cat>
          <c:val>
            <c:numRef>
              <c:f>'Chart Data'!$B$2:$B$7</c:f>
              <c:numCache>
                <c:formatCode>General</c:formatCode>
                <c:ptCount val="6"/>
                <c:pt idx="0">
                  <c:v>205</c:v>
                </c:pt>
                <c:pt idx="1">
                  <c:v>271</c:v>
                </c:pt>
                <c:pt idx="2">
                  <c:v>0</c:v>
                </c:pt>
                <c:pt idx="3">
                  <c:v>159</c:v>
                </c:pt>
                <c:pt idx="4">
                  <c:v>178</c:v>
                </c:pt>
                <c:pt idx="5">
                  <c:v>0</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4F62"/>
                  </a:solidFill>
                  <a:latin typeface="Inter"/>
                  <a:ea typeface="Inter"/>
                  <a:cs typeface="Inter"/>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Inter"/>
                <a:ea typeface="Inter"/>
                <a:cs typeface="Inter"/>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Inter"/>
                <a:ea typeface="Inter"/>
                <a:cs typeface="Inter"/>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183AD40A-3194-41B0-861C-CE44C9B76B26}"/>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0c15abd644b4f36"/>
          <a:stretch xmlns:a="http://schemas.openxmlformats.org/drawingml/2006/main"/>
        </p:blipFill>
        <p:spPr>
          <a:xfrm xmlns:a="http://schemas.openxmlformats.org/drawingml/2006/main">
            <a:off x="609659" y="571500"/>
            <a:ext cx="1714382" cy="581025"/>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6E7A6709-6920-4CEA-A9AC-3E55CAB36A86}"/>
              </a:ext>
            </a:extLst>
          </p:cNvPr>
          <p:cNvSpPr>
            <a:spLocks xmlns:a="http://schemas.openxmlformats.org/drawingml/2006/main" noGrp="1"/>
          </p:cNvSpPr>
          <p:nvPr/>
        </p:nvSpPr>
        <p:spPr>
          <a:xfrm xmlns:a="http://schemas.openxmlformats.org/drawingml/2006/main">
            <a:off x="609600" y="2143125"/>
            <a:ext cx="9525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SplicR for the</a:t>
            </a:r>
          </a:p>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Varmus lab</a:t>
            </a:r>
          </a:p>
        </p:txBody>
      </p:sp>
      <p:sp>
        <p:nvSpPr>
          <p:cNvPr id="4" name="text-3">
            <a:extLst xmlns:a="http://schemas.openxmlformats.org/drawingml/2006/main">
              <a:ext uri="{FF2B5EF4-FFF2-40B4-BE49-F238E27FC236}">
                <a16:creationId xmlns:a16="http://schemas.microsoft.com/office/drawing/2014/main" id="{256E5E25-7FA6-4B69-8D63-4E511F39434A}"/>
              </a:ext>
            </a:extLst>
          </p:cNvPr>
          <p:cNvSpPr>
            <a:spLocks xmlns:a="http://schemas.openxmlformats.org/drawingml/2006/main" noGrp="1"/>
          </p:cNvSpPr>
          <p:nvPr/>
        </p:nvSpPr>
        <p:spPr>
          <a:xfrm xmlns:a="http://schemas.openxmlformats.org/drawingml/2006/main">
            <a:off x="647700" y="4333875"/>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DBE9ED"/>
                </a:solidFill>
                <a:latin typeface="Inter"/>
                <a:ea typeface="Inter"/>
                <a:cs typeface="Inter"/>
              </a:defRPr>
            </a:pPr>
            <a:r>
              <a:rPr sz="2250" b="0">
                <a:solidFill>
                  <a:srgbClr val="DBE9ED"/>
                </a:solidFill>
                <a:latin typeface="Inter"/>
                <a:ea typeface="Inter"/>
                <a:cs typeface="Inter"/>
              </a:rPr>
              <a:t>A549 LKB1 screens, revisited</a:t>
            </a:r>
          </a:p>
        </p:txBody>
      </p:sp>
      <p:sp>
        <p:nvSpPr>
          <p:cNvPr id="5" name="text-4">
            <a:extLst xmlns:a="http://schemas.openxmlformats.org/drawingml/2006/main">
              <a:ext uri="{FF2B5EF4-FFF2-40B4-BE49-F238E27FC236}">
                <a16:creationId xmlns:a16="http://schemas.microsoft.com/office/drawing/2014/main" id="{A36602C0-7EE6-405A-B1D5-25828B0FFCD1}"/>
              </a:ext>
            </a:extLst>
          </p:cNvPr>
          <p:cNvSpPr>
            <a:spLocks xmlns:a="http://schemas.openxmlformats.org/drawingml/2006/main" noGrp="1"/>
          </p:cNvSpPr>
          <p:nvPr/>
        </p:nvSpPr>
        <p:spPr>
          <a:xfrm xmlns:a="http://schemas.openxmlformats.org/drawingml/2006/main">
            <a:off x="647700" y="54102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Sahaj Satani, Pranav Mettu, Ishaan Samantray</a:t>
            </a:r>
          </a:p>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Cornell students</a:t>
            </a:r>
          </a:p>
        </p:txBody>
      </p:sp>
    </p:spTree>
    <p:extLst>
      <p:ext uri="{BB962C8B-B14F-4D97-AF65-F5344CB8AC3E}">
        <p14:creationId xmlns:p14="http://schemas.microsoft.com/office/powerpoint/2010/main" val="1813161074"/>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cf6a8296e414376"/>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7E521507-4F70-4F2D-A670-76D63A2327D0}"/>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biological question</a:t>
            </a:r>
          </a:p>
        </p:txBody>
      </p:sp>
      <p:sp>
        <p:nvSpPr>
          <p:cNvPr id="3" name="text-2">
            <a:extLst xmlns:a="http://schemas.openxmlformats.org/drawingml/2006/main">
              <a:ext uri="{FF2B5EF4-FFF2-40B4-BE49-F238E27FC236}">
                <a16:creationId xmlns:a16="http://schemas.microsoft.com/office/drawing/2014/main" id="{410B494A-FE6A-4048-849F-A30B8039006F}"/>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How does LKB1 restrain lung cancer cell growth in spheroids?</a:t>
            </a:r>
          </a:p>
        </p:txBody>
      </p:sp>
      <p:sp>
        <p:nvSpPr>
          <p:cNvPr id="4" name="text-3">
            <a:extLst xmlns:a="http://schemas.openxmlformats.org/drawingml/2006/main">
              <a:ext uri="{FF2B5EF4-FFF2-40B4-BE49-F238E27FC236}">
                <a16:creationId xmlns:a16="http://schemas.microsoft.com/office/drawing/2014/main" id="{CEC0139C-DF59-4BE6-A0F4-2562F3F2F428}"/>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02</a:t>
            </a:r>
          </a:p>
        </p:txBody>
      </p:sp>
      <p:sp>
        <p:nvSpPr>
          <p:cNvPr id="5" name="text-4">
            <a:extLst xmlns:a="http://schemas.openxmlformats.org/drawingml/2006/main">
              <a:ext uri="{FF2B5EF4-FFF2-40B4-BE49-F238E27FC236}">
                <a16:creationId xmlns:a16="http://schemas.microsoft.com/office/drawing/2014/main" id="{7B5CB38E-76B3-493F-A07B-349B75A1ED95}"/>
              </a:ext>
            </a:extLst>
          </p:cNvPr>
          <p:cNvSpPr>
            <a:spLocks xmlns:a="http://schemas.openxmlformats.org/drawingml/2006/main" noGrp="1"/>
          </p:cNvSpPr>
          <p:nvPr/>
        </p:nvSpPr>
        <p:spPr>
          <a:xfrm xmlns:a="http://schemas.openxmlformats.org/drawingml/2006/main">
            <a:off x="609600" y="2400300"/>
            <a:ext cx="5715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The screen points to the PIKFYVE complex.</a:t>
            </a:r>
          </a:p>
          <a:p xmlns:a="http://schemas.openxmlformats.org/drawingml/2006/main">
            <a:r>
              <a:t/>
            </a:r>
          </a:p>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Follow-up experiments connect it to how cells take in growth signals.</a:t>
            </a:r>
          </a:p>
        </p:txBody>
      </p:sp>
      <p:sp>
        <p:nvSpPr>
          <p:cNvPr id="6" name="text-5">
            <a:extLst xmlns:a="http://schemas.openxmlformats.org/drawingml/2006/main">
              <a:ext uri="{FF2B5EF4-FFF2-40B4-BE49-F238E27FC236}">
                <a16:creationId xmlns:a16="http://schemas.microsoft.com/office/drawing/2014/main" id="{FF484893-B59E-42DB-83CC-352DCCD976CA}"/>
              </a:ext>
            </a:extLst>
          </p:cNvPr>
          <p:cNvSpPr>
            <a:spLocks xmlns:a="http://schemas.openxmlformats.org/drawingml/2006/main" noGrp="1"/>
          </p:cNvSpPr>
          <p:nvPr/>
        </p:nvSpPr>
        <p:spPr>
          <a:xfrm xmlns:a="http://schemas.openxmlformats.org/drawingml/2006/main">
            <a:off x="609600" y="4953000"/>
            <a:ext cx="561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 examines the CRISPR evidence behind that story.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473a92d99794c5e"/>
          <a:stretch xmlns:a="http://schemas.openxmlformats.org/drawingml/2006/main"/>
        </p:blipFill>
        <p:spPr>
          <a:xfrm xmlns:a="http://schemas.openxmlformats.org/drawingml/2006/main">
            <a:off x="8134350" y="1509810"/>
            <a:ext cx="3105150" cy="4276530"/>
          </a:xfrm>
          <a:prstGeom xmlns:a="http://schemas.openxmlformats.org/drawingml/2006/main" prst="rect">
            <a:avLst/>
          </a:prstGeom>
        </p:spPr>
      </p:pic>
      <p:sp>
        <p:nvSpPr>
          <p:cNvPr id="8" name="text-7">
            <a:extLst xmlns:a="http://schemas.openxmlformats.org/drawingml/2006/main">
              <a:ext uri="{FF2B5EF4-FFF2-40B4-BE49-F238E27FC236}">
                <a16:creationId xmlns:a16="http://schemas.microsoft.com/office/drawing/2014/main" id="{44ECFBC6-20D5-4D49-91D2-A6829C9A7352}"/>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Ferrarone et al., PNAS 2024, Fig. 4. Published experiment, not a SplicR output.</a:t>
            </a:r>
          </a:p>
        </p:txBody>
      </p:sp>
    </p:spTree>
    <p:extLst>
      <p:ext uri="{BB962C8B-B14F-4D97-AF65-F5344CB8AC3E}">
        <p14:creationId xmlns:p14="http://schemas.microsoft.com/office/powerpoint/2010/main" val="592293173"/>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2447a295acf41b4"/>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05837D68-9534-4A51-80E3-554C5949172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screen design</a:t>
            </a:r>
          </a:p>
        </p:txBody>
      </p:sp>
      <p:sp>
        <p:nvSpPr>
          <p:cNvPr id="3" name="text-2">
            <a:extLst xmlns:a="http://schemas.openxmlformats.org/drawingml/2006/main">
              <a:ext uri="{FF2B5EF4-FFF2-40B4-BE49-F238E27FC236}">
                <a16:creationId xmlns:a16="http://schemas.microsoft.com/office/drawing/2014/main" id="{2ABA133D-8333-499D-A4A3-F7FEA412929D}"/>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A549 cells, TKOv3 knockout library, day 21</a:t>
            </a:r>
          </a:p>
        </p:txBody>
      </p:sp>
      <p:sp>
        <p:nvSpPr>
          <p:cNvPr id="4" name="text-3">
            <a:extLst xmlns:a="http://schemas.openxmlformats.org/drawingml/2006/main">
              <a:ext uri="{FF2B5EF4-FFF2-40B4-BE49-F238E27FC236}">
                <a16:creationId xmlns:a16="http://schemas.microsoft.com/office/drawing/2014/main" id="{4FF18D74-08FC-4BA6-824E-A878A165E56C}"/>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03</a:t>
            </a:r>
          </a:p>
        </p:txBody>
      </p:sp>
      <p:graphicFrame>
        <p:nvGraphicFramePr>
          <p:cNvPr id="12" name=""/>
          <p:cNvGraphicFramePr/>
          <p:nvPr/>
        </p:nvGraphicFramePr>
        <p:xfrm>
          <a:off xmlns:a="http://schemas.openxmlformats.org/drawingml/2006/main" x="609600" y="2400300"/>
          <a:ext xmlns:a="http://schemas.openxmlformats.org/drawingml/2006/main" cx="10972800" cy="2381250"/>
        </p:xfrm>
        <a:graphic xmlns:a="http://schemas.openxmlformats.org/drawingml/2006/main">
          <a:graphicData uri="http://schemas.openxmlformats.org/drawingml/2006/table">
            <a:tbl>
              <a:tblPr/>
              <a:tblGrid>
                <a:gridCol w="3657600"/>
                <a:gridCol w="3657600"/>
                <a:gridCol w="3657600"/>
              </a:tblGrid>
              <a:tr h="793750">
                <a:tc>
                  <a:txBody>
                    <a:bodyPr/>
                    <a:lstStyle/>
                    <a:p>
                      <a:r>
                        <a:rPr sz="2025" b="1">
                          <a:solidFill>
                            <a:srgbClr val="FFFFFF"/>
                          </a:solidFill>
                          <a:latin typeface="Inter"/>
                          <a:ea typeface="Inter"/>
                          <a:cs typeface="Inter"/>
                        </a:rPr>
                        <a:t>Culture</a:t>
                      </a:r>
                    </a:p>
                  </a:txBody>
                  <a:tcPr marL="91440" marR="91440" marT="45720" marB="45720">
                    <a:solidFill>
                      <a:srgbClr val="24334B"/>
                    </a:solidFill>
                  </a:tcPr>
                </a:tc>
                <a:tc>
                  <a:txBody>
                    <a:bodyPr/>
                    <a:lstStyle/>
                    <a:p>
                      <a:r>
                        <a:rPr sz="2025" b="1">
                          <a:solidFill>
                            <a:srgbClr val="FFFFFF"/>
                          </a:solidFill>
                          <a:latin typeface="Inter"/>
                          <a:ea typeface="Inter"/>
                          <a:cs typeface="Inter"/>
                        </a:rPr>
                        <a:t>LKB1-null (EV)</a:t>
                      </a:r>
                    </a:p>
                  </a:txBody>
                  <a:tcPr marL="91440" marR="91440" marT="45720" marB="45720">
                    <a:solidFill>
                      <a:srgbClr val="24334B"/>
                    </a:solidFill>
                  </a:tcPr>
                </a:tc>
                <a:tc>
                  <a:txBody>
                    <a:bodyPr/>
                    <a:lstStyle/>
                    <a:p>
                      <a:r>
                        <a:rPr sz="2025" b="1">
                          <a:solidFill>
                            <a:srgbClr val="FFFFFF"/>
                          </a:solidFill>
                          <a:latin typeface="Inter"/>
                          <a:ea typeface="Inter"/>
                          <a:cs typeface="Inter"/>
                        </a:rPr>
                        <a:t>LKB1-restored (WT)</a:t>
                      </a:r>
                    </a:p>
                  </a:txBody>
                  <a:tcPr marL="91440" marR="91440" marT="45720" marB="45720">
                    <a:solidFill>
                      <a:srgbClr val="24334B"/>
                    </a:solidFill>
                  </a:tcPr>
                </a:tc>
              </a:tr>
              <a:tr h="793750">
                <a:tc>
                  <a:txBody>
                    <a:bodyPr/>
                    <a:lstStyle/>
                    <a:p>
                      <a:r>
                        <a:rPr sz="2025" b="0">
                          <a:solidFill>
                            <a:srgbClr val="4F6470"/>
                          </a:solidFill>
                          <a:latin typeface="Inter"/>
                          <a:ea typeface="Inter"/>
                          <a:cs typeface="Inter"/>
                        </a:rPr>
                        <a:t>2D monolayer</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r h="793750">
                <a:tc>
                  <a:txBody>
                    <a:bodyPr/>
                    <a:lstStyle/>
                    <a:p>
                      <a:r>
                        <a:rPr sz="2025" b="0">
                          <a:solidFill>
                            <a:srgbClr val="4F6470"/>
                          </a:solidFill>
                          <a:latin typeface="Inter"/>
                          <a:ea typeface="Inter"/>
                          <a:cs typeface="Inter"/>
                        </a:rPr>
                        <a:t>3D spheroid</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DD34FE27-8774-439A-8354-966F3A69BB99}"/>
              </a:ext>
            </a:extLst>
          </p:cNvPr>
          <p:cNvSpPr>
            <a:spLocks xmlns:a="http://schemas.openxmlformats.org/drawingml/2006/main" noGrp="1"/>
          </p:cNvSpPr>
          <p:nvPr/>
        </p:nvSpPr>
        <p:spPr>
          <a:xfrm xmlns:a="http://schemas.openxmlformats.org/drawingml/2006/main">
            <a:off x="609600" y="51339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One shared plasmid library reference</a:t>
            </a:r>
          </a:p>
        </p:txBody>
      </p:sp>
      <p:sp>
        <p:nvSpPr>
          <p:cNvPr id="7" name="text-6">
            <a:extLst xmlns:a="http://schemas.openxmlformats.org/drawingml/2006/main">
              <a:ext uri="{FF2B5EF4-FFF2-40B4-BE49-F238E27FC236}">
                <a16:creationId xmlns:a16="http://schemas.microsoft.com/office/drawing/2014/main" id="{07AE06F6-421F-4626-B26D-F4092D801D1A}"/>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Eight endpoint samples. The plasmid reference is not a biological replicate.</a:t>
            </a:r>
          </a:p>
        </p:txBody>
      </p:sp>
    </p:spTree>
    <p:extLst>
      <p:ext uri="{BB962C8B-B14F-4D97-AF65-F5344CB8AC3E}">
        <p14:creationId xmlns:p14="http://schemas.microsoft.com/office/powerpoint/2010/main" val="2099324260"/>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f75e89449c14203"/>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BB66F36E-0858-4F93-9BE7-07B815787065}"/>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deposited files pass identity checks</a:t>
            </a:r>
          </a:p>
        </p:txBody>
      </p:sp>
      <p:sp>
        <p:nvSpPr>
          <p:cNvPr id="3" name="text-2">
            <a:extLst xmlns:a="http://schemas.openxmlformats.org/drawingml/2006/main">
              <a:ext uri="{FF2B5EF4-FFF2-40B4-BE49-F238E27FC236}">
                <a16:creationId xmlns:a16="http://schemas.microsoft.com/office/drawing/2014/main" id="{E07C529A-80E4-457B-80AE-AE794BF92ED3}"/>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Both original downloads match Harvard Dataverse V1</a:t>
            </a:r>
          </a:p>
        </p:txBody>
      </p:sp>
      <p:sp>
        <p:nvSpPr>
          <p:cNvPr id="4" name="text-3">
            <a:extLst xmlns:a="http://schemas.openxmlformats.org/drawingml/2006/main">
              <a:ext uri="{FF2B5EF4-FFF2-40B4-BE49-F238E27FC236}">
                <a16:creationId xmlns:a16="http://schemas.microsoft.com/office/drawing/2014/main" id="{6D06BAE4-C7A8-48E4-80E5-0891EF4FA49E}"/>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04</a:t>
            </a:r>
          </a:p>
        </p:txBody>
      </p:sp>
      <p:sp>
        <p:nvSpPr>
          <p:cNvPr id="5" name="text-4">
            <a:extLst xmlns:a="http://schemas.openxmlformats.org/drawingml/2006/main">
              <a:ext uri="{FF2B5EF4-FFF2-40B4-BE49-F238E27FC236}">
                <a16:creationId xmlns:a16="http://schemas.microsoft.com/office/drawing/2014/main" id="{747D5138-0404-48A4-9CBB-637682672E18}"/>
              </a:ext>
            </a:extLst>
          </p:cNvPr>
          <p:cNvSpPr>
            <a:spLocks xmlns:a="http://schemas.openxmlformats.org/drawingml/2006/main" noGrp="1"/>
          </p:cNvSpPr>
          <p:nvPr/>
        </p:nvSpPr>
        <p:spPr>
          <a:xfrm xmlns:a="http://schemas.openxmlformats.org/drawingml/2006/main">
            <a:off x="60960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70,116</a:t>
            </a:r>
          </a:p>
        </p:txBody>
      </p:sp>
      <p:sp>
        <p:nvSpPr>
          <p:cNvPr id="6" name="text-5">
            <a:extLst xmlns:a="http://schemas.openxmlformats.org/drawingml/2006/main">
              <a:ext uri="{FF2B5EF4-FFF2-40B4-BE49-F238E27FC236}">
                <a16:creationId xmlns:a16="http://schemas.microsoft.com/office/drawing/2014/main" id="{F2FB4301-88A2-4FB2-81B0-AAE673F6E8FE}"/>
              </a:ext>
            </a:extLst>
          </p:cNvPr>
          <p:cNvSpPr>
            <a:spLocks xmlns:a="http://schemas.openxmlformats.org/drawingml/2006/main" noGrp="1"/>
          </p:cNvSpPr>
          <p:nvPr/>
        </p:nvSpPr>
        <p:spPr>
          <a:xfrm xmlns:a="http://schemas.openxmlformats.org/drawingml/2006/main">
            <a:off x="647700" y="3600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observed guides in each table</a:t>
            </a:r>
          </a:p>
        </p:txBody>
      </p:sp>
      <p:sp>
        <p:nvSpPr>
          <p:cNvPr id="7" name="text-6">
            <a:extLst xmlns:a="http://schemas.openxmlformats.org/drawingml/2006/main">
              <a:ext uri="{FF2B5EF4-FFF2-40B4-BE49-F238E27FC236}">
                <a16:creationId xmlns:a16="http://schemas.microsoft.com/office/drawing/2014/main" id="{056EF5BF-B5E8-463D-BB45-9E20E0739204}"/>
              </a:ext>
            </a:extLst>
          </p:cNvPr>
          <p:cNvSpPr>
            <a:spLocks xmlns:a="http://schemas.openxmlformats.org/drawingml/2006/main" noGrp="1"/>
          </p:cNvSpPr>
          <p:nvPr/>
        </p:nvSpPr>
        <p:spPr>
          <a:xfrm xmlns:a="http://schemas.openxmlformats.org/drawingml/2006/main">
            <a:off x="641985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18,049</a:t>
            </a:r>
          </a:p>
        </p:txBody>
      </p:sp>
      <p:sp>
        <p:nvSpPr>
          <p:cNvPr id="8" name="text-7">
            <a:extLst xmlns:a="http://schemas.openxmlformats.org/drawingml/2006/main">
              <a:ext uri="{FF2B5EF4-FFF2-40B4-BE49-F238E27FC236}">
                <a16:creationId xmlns:a16="http://schemas.microsoft.com/office/drawing/2014/main" id="{1BC37909-7555-4E62-B519-5B2A22F14A01}"/>
              </a:ext>
            </a:extLst>
          </p:cNvPr>
          <p:cNvSpPr>
            <a:spLocks xmlns:a="http://schemas.openxmlformats.org/drawingml/2006/main" noGrp="1"/>
          </p:cNvSpPr>
          <p:nvPr/>
        </p:nvSpPr>
        <p:spPr>
          <a:xfrm xmlns:a="http://schemas.openxmlformats.org/drawingml/2006/main">
            <a:off x="6457950" y="36004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genes after guide-ID annotation</a:t>
            </a:r>
          </a:p>
        </p:txBody>
      </p:sp>
      <p:sp>
        <p:nvSpPr>
          <p:cNvPr id="9" name="text-8">
            <a:extLst xmlns:a="http://schemas.openxmlformats.org/drawingml/2006/main">
              <a:ext uri="{FF2B5EF4-FFF2-40B4-BE49-F238E27FC236}">
                <a16:creationId xmlns:a16="http://schemas.microsoft.com/office/drawing/2014/main" id="{EB74EE17-CD4D-461A-9ADC-9A4514E2AFA2}"/>
              </a:ext>
            </a:extLst>
          </p:cNvPr>
          <p:cNvSpPr>
            <a:spLocks xmlns:a="http://schemas.openxmlformats.org/drawingml/2006/main" noGrp="1"/>
          </p:cNvSpPr>
          <p:nvPr/>
        </p:nvSpPr>
        <p:spPr>
          <a:xfrm xmlns:a="http://schemas.openxmlformats.org/drawingml/2006/main">
            <a:off x="647700" y="4857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104 date-like gene labels corrected per file</a:t>
            </a:r>
          </a:p>
        </p:txBody>
      </p:sp>
      <p:sp>
        <p:nvSpPr>
          <p:cNvPr id="10" name="text-9">
            <a:extLst xmlns:a="http://schemas.openxmlformats.org/drawingml/2006/main">
              <a:ext uri="{FF2B5EF4-FFF2-40B4-BE49-F238E27FC236}">
                <a16:creationId xmlns:a16="http://schemas.microsoft.com/office/drawing/2014/main" id="{1D8DE1FA-6865-4149-9053-553B9B2F3948}"/>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Original counts remain unchanged. The analysis uses TKOv3 annotations keyed by guide ID.</a:t>
            </a:r>
          </a:p>
        </p:txBody>
      </p:sp>
    </p:spTree>
    <p:extLst>
      <p:ext uri="{BB962C8B-B14F-4D97-AF65-F5344CB8AC3E}">
        <p14:creationId xmlns:p14="http://schemas.microsoft.com/office/powerpoint/2010/main" val="1841977446"/>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a9ed4b006634d4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EBC50249-24FB-4A64-BCA7-B29C2E5589C1}"/>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Upload the original count tables</a:t>
            </a:r>
          </a:p>
        </p:txBody>
      </p:sp>
      <p:sp>
        <p:nvSpPr>
          <p:cNvPr id="3" name="text-2">
            <a:extLst xmlns:a="http://schemas.openxmlformats.org/drawingml/2006/main">
              <a:ext uri="{FF2B5EF4-FFF2-40B4-BE49-F238E27FC236}">
                <a16:creationId xmlns:a16="http://schemas.microsoft.com/office/drawing/2014/main" id="{472AE018-3980-4184-8788-4E0106DEE895}"/>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05</a:t>
            </a:r>
          </a:p>
        </p:txBody>
      </p:sp>
      <p:sp>
        <p:nvSpPr>
          <p:cNvPr id="4" name="text-3">
            <a:extLst xmlns:a="http://schemas.openxmlformats.org/drawingml/2006/main">
              <a:ext uri="{FF2B5EF4-FFF2-40B4-BE49-F238E27FC236}">
                <a16:creationId xmlns:a16="http://schemas.microsoft.com/office/drawing/2014/main" id="{C4BBD5F2-0353-49AD-9CF5-8CF6715EA715}"/>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Two files.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No FASTQ download is needed for this count-table demo.</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2ccdbcf820940f1"/>
          <a:stretch xmlns:a="http://schemas.openxmlformats.org/drawingml/2006/main"/>
        </p:blipFill>
        <p:spPr>
          <a:xfrm xmlns:a="http://schemas.openxmlformats.org/drawingml/2006/main">
            <a:off x="3714750" y="3034742"/>
            <a:ext cx="7867650" cy="1779117"/>
          </a:xfrm>
          <a:prstGeom xmlns:a="http://schemas.openxmlformats.org/drawingml/2006/main" prst="rect">
            <a:avLst/>
          </a:prstGeom>
        </p:spPr>
      </p:pic>
    </p:spTree>
    <p:extLst>
      <p:ext uri="{BB962C8B-B14F-4D97-AF65-F5344CB8AC3E}">
        <p14:creationId xmlns:p14="http://schemas.microsoft.com/office/powerpoint/2010/main" val="1109316005"/>
      </p:ext>
    </p:extLst>
  </p:cSld>
</p:sld>
</file>

<file path=ppt/slides/slide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a7e2ea65f5e411a"/>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FDD1FD4F-81CE-455D-B09B-E723BC69450E}"/>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identifies the guide library</a:t>
            </a:r>
          </a:p>
        </p:txBody>
      </p:sp>
      <p:sp>
        <p:nvSpPr>
          <p:cNvPr id="3" name="text-2">
            <a:extLst xmlns:a="http://schemas.openxmlformats.org/drawingml/2006/main">
              <a:ext uri="{FF2B5EF4-FFF2-40B4-BE49-F238E27FC236}">
                <a16:creationId xmlns:a16="http://schemas.microsoft.com/office/drawing/2014/main" id="{CFFB6051-C81E-4223-831D-93C308745512}"/>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06</a:t>
            </a:r>
          </a:p>
        </p:txBody>
      </p:sp>
      <p:sp>
        <p:nvSpPr>
          <p:cNvPr id="4" name="text-3">
            <a:extLst xmlns:a="http://schemas.openxmlformats.org/drawingml/2006/main">
              <a:ext uri="{FF2B5EF4-FFF2-40B4-BE49-F238E27FC236}">
                <a16:creationId xmlns:a16="http://schemas.microsoft.com/office/drawing/2014/main" id="{02B568CB-C3DC-471A-8B5D-B8578A941936}"/>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All observed guide IDs match TKOv3.</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mapping stays visible for review.</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99cfa9d69b24372"/>
          <a:stretch xmlns:a="http://schemas.openxmlformats.org/drawingml/2006/main"/>
        </p:blipFill>
        <p:spPr>
          <a:xfrm xmlns:a="http://schemas.openxmlformats.org/drawingml/2006/main">
            <a:off x="3714750" y="2734318"/>
            <a:ext cx="7867650" cy="2379964"/>
          </a:xfrm>
          <a:prstGeom xmlns:a="http://schemas.openxmlformats.org/drawingml/2006/main" prst="rect">
            <a:avLst/>
          </a:prstGeom>
        </p:spPr>
      </p:pic>
    </p:spTree>
    <p:extLst>
      <p:ext uri="{BB962C8B-B14F-4D97-AF65-F5344CB8AC3E}">
        <p14:creationId xmlns:p14="http://schemas.microsoft.com/office/powerpoint/2010/main" val="1338814911"/>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ff292b9b93a4fd3"/>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749D6068-D5FF-424E-B255-A31E1363B930}"/>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Six comparisons, ready to review</a:t>
            </a:r>
          </a:p>
        </p:txBody>
      </p:sp>
      <p:sp>
        <p:nvSpPr>
          <p:cNvPr id="3" name="text-2">
            <a:extLst xmlns:a="http://schemas.openxmlformats.org/drawingml/2006/main">
              <a:ext uri="{FF2B5EF4-FFF2-40B4-BE49-F238E27FC236}">
                <a16:creationId xmlns:a16="http://schemas.microsoft.com/office/drawing/2014/main" id="{F749173C-9A3E-4646-A120-56F3F469FCD5}"/>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07</a:t>
            </a:r>
          </a:p>
        </p:txBody>
      </p:sp>
      <p:sp>
        <p:nvSpPr>
          <p:cNvPr id="4" name="text-3">
            <a:extLst xmlns:a="http://schemas.openxmlformats.org/drawingml/2006/main">
              <a:ext uri="{FF2B5EF4-FFF2-40B4-BE49-F238E27FC236}">
                <a16:creationId xmlns:a16="http://schemas.microsoft.com/office/drawing/2014/main" id="{24DC81D0-00D6-49C7-A4F4-60826F9B1DB6}"/>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EV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EV.</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Separately for each culture.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1807b0d8aca4161"/>
          <a:stretch xmlns:a="http://schemas.openxmlformats.org/drawingml/2006/main"/>
        </p:blipFill>
        <p:spPr>
          <a:xfrm xmlns:a="http://schemas.openxmlformats.org/drawingml/2006/main">
            <a:off x="3714750" y="2711785"/>
            <a:ext cx="7867650" cy="2386930"/>
          </a:xfrm>
          <a:prstGeom xmlns:a="http://schemas.openxmlformats.org/drawingml/2006/main" prst="rect">
            <a:avLst/>
          </a:prstGeom>
        </p:spPr>
      </p:pic>
    </p:spTree>
    <p:extLst>
      <p:ext uri="{BB962C8B-B14F-4D97-AF65-F5344CB8AC3E}">
        <p14:creationId xmlns:p14="http://schemas.microsoft.com/office/powerpoint/2010/main" val="626269264"/>
      </p:ext>
    </p:extLst>
  </p:cSld>
</p:sld>
</file>

<file path=ppt/slides/slide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0f5f9f6b7654a47"/>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B82407A-1841-493A-80A8-093806E24B84}"/>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Researchers control the analysis</a:t>
            </a:r>
          </a:p>
        </p:txBody>
      </p:sp>
      <p:sp>
        <p:nvSpPr>
          <p:cNvPr id="3" name="text-2">
            <a:extLst xmlns:a="http://schemas.openxmlformats.org/drawingml/2006/main">
              <a:ext uri="{FF2B5EF4-FFF2-40B4-BE49-F238E27FC236}">
                <a16:creationId xmlns:a16="http://schemas.microsoft.com/office/drawing/2014/main" id="{058655EE-B825-4287-BBFC-AAF681B57D20}"/>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08</a:t>
            </a:r>
          </a:p>
        </p:txBody>
      </p:sp>
      <p:sp>
        <p:nvSpPr>
          <p:cNvPr id="4" name="text-3">
            <a:extLst xmlns:a="http://schemas.openxmlformats.org/drawingml/2006/main">
              <a:ext uri="{FF2B5EF4-FFF2-40B4-BE49-F238E27FC236}">
                <a16:creationId xmlns:a16="http://schemas.microsoft.com/office/drawing/2014/main" id="{0AC49E2D-9162-4894-BBAC-284C878D9701}"/>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Median normalization.</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FDR threshold 0.05.</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RRA with optional MLE.</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reviewed plan travels with the run.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69f59f40d444a79"/>
          <a:stretch xmlns:a="http://schemas.openxmlformats.org/drawingml/2006/main"/>
        </p:blipFill>
        <p:spPr>
          <a:xfrm xmlns:a="http://schemas.openxmlformats.org/drawingml/2006/main">
            <a:off x="4358169" y="2000250"/>
            <a:ext cx="6866562" cy="3819525"/>
          </a:xfrm>
          <a:prstGeom xmlns:a="http://schemas.openxmlformats.org/drawingml/2006/main" prst="rect">
            <a:avLst/>
          </a:prstGeom>
        </p:spPr>
      </p:pic>
    </p:spTree>
    <p:extLst>
      <p:ext uri="{BB962C8B-B14F-4D97-AF65-F5344CB8AC3E}">
        <p14:creationId xmlns:p14="http://schemas.microsoft.com/office/powerpoint/2010/main" val="1510390624"/>
      </p:ext>
    </p:extLst>
  </p:cSld>
</p:sld>
</file>

<file path=ppt/slides/slide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3f8b757412b46bd"/>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44D8EFDC-43BC-4AA8-9F15-D941E370E1D1}"/>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Live progress follows recorded stages</a:t>
            </a:r>
          </a:p>
        </p:txBody>
      </p:sp>
      <p:sp>
        <p:nvSpPr>
          <p:cNvPr id="3" name="text-2">
            <a:extLst xmlns:a="http://schemas.openxmlformats.org/drawingml/2006/main">
              <a:ext uri="{FF2B5EF4-FFF2-40B4-BE49-F238E27FC236}">
                <a16:creationId xmlns:a16="http://schemas.microsoft.com/office/drawing/2014/main" id="{9CCD7DD5-E4AD-456A-9F4A-BD84D3676D32}"/>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09</a:t>
            </a:r>
          </a:p>
        </p:txBody>
      </p:sp>
      <p:sp>
        <p:nvSpPr>
          <p:cNvPr id="4" name="text-3">
            <a:extLst xmlns:a="http://schemas.openxmlformats.org/drawingml/2006/main">
              <a:ext uri="{FF2B5EF4-FFF2-40B4-BE49-F238E27FC236}">
                <a16:creationId xmlns:a16="http://schemas.microsoft.com/office/drawing/2014/main" id="{2F04FAF5-614F-4DD2-A084-6DD0DDDCA184}"/>
              </a:ext>
            </a:extLst>
          </p:cNvPr>
          <p:cNvSpPr>
            <a:spLocks xmlns:a="http://schemas.openxmlformats.org/drawingml/2006/main" noGrp="1"/>
          </p:cNvSpPr>
          <p:nvPr/>
        </p:nvSpPr>
        <p:spPr>
          <a:xfrm xmlns:a="http://schemas.openxmlformats.org/drawingml/2006/main">
            <a:off x="609600" y="22383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Stages and elapsed time remain visible during processing.</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3a59eb7c76b453d"/>
          <a:stretch xmlns:a="http://schemas.openxmlformats.org/drawingml/2006/main"/>
        </p:blipFill>
        <p:spPr>
          <a:xfrm xmlns:a="http://schemas.openxmlformats.org/drawingml/2006/main">
            <a:off x="609600" y="3240376"/>
            <a:ext cx="10972800" cy="2110798"/>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D5970B12-28BD-44C1-8B17-A47097D85635}"/>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Captured during MLE fitting. All six full RRA + MLE analyses are now complete.</a:t>
            </a:r>
          </a:p>
        </p:txBody>
      </p:sp>
    </p:spTree>
    <p:extLst>
      <p:ext uri="{BB962C8B-B14F-4D97-AF65-F5344CB8AC3E}">
        <p14:creationId xmlns:p14="http://schemas.microsoft.com/office/powerpoint/2010/main" val="1284740454"/>
      </p:ext>
    </p:extLst>
  </p:cSld>
</p:sld>
</file>

<file path=ppt/slides/slide1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1370e654956465d"/>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2DA069B9-A03A-4D9D-90EB-C62081D6EB9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completed report exposes uncertainty</a:t>
            </a:r>
          </a:p>
        </p:txBody>
      </p:sp>
      <p:sp>
        <p:nvSpPr>
          <p:cNvPr id="3" name="text-2">
            <a:extLst xmlns:a="http://schemas.openxmlformats.org/drawingml/2006/main">
              <a:ext uri="{FF2B5EF4-FFF2-40B4-BE49-F238E27FC236}">
                <a16:creationId xmlns:a16="http://schemas.microsoft.com/office/drawing/2014/main" id="{470FF0A3-9536-4470-BEB2-20AD792DD273}"/>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 completed RRA + MLE run</a:t>
            </a:r>
          </a:p>
        </p:txBody>
      </p:sp>
      <p:sp>
        <p:nvSpPr>
          <p:cNvPr id="4" name="text-3">
            <a:extLst xmlns:a="http://schemas.openxmlformats.org/drawingml/2006/main">
              <a:ext uri="{FF2B5EF4-FFF2-40B4-BE49-F238E27FC236}">
                <a16:creationId xmlns:a16="http://schemas.microsoft.com/office/drawing/2014/main" id="{6EB403A8-5621-48BC-BDA7-6B899E1227AA}"/>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898274aeae14be7"/>
          <a:stretch xmlns:a="http://schemas.openxmlformats.org/drawingml/2006/main"/>
        </p:blipFill>
        <p:spPr>
          <a:xfrm xmlns:a="http://schemas.openxmlformats.org/drawingml/2006/main">
            <a:off x="609600" y="2235239"/>
            <a:ext cx="10972800" cy="3178098"/>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14091C00-9FC4-46B0-BE4C-348463F07703}"/>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178 candidates. 172 have artifact flags. The report retains the quality warning.</a:t>
            </a:r>
          </a:p>
        </p:txBody>
      </p:sp>
    </p:spTree>
    <p:extLst>
      <p:ext uri="{BB962C8B-B14F-4D97-AF65-F5344CB8AC3E}">
        <p14:creationId xmlns:p14="http://schemas.microsoft.com/office/powerpoint/2010/main" val="551071340"/>
      </p:ext>
    </p:extLst>
  </p:cSld>
</p:sld>
</file>

<file path=ppt/slides/slide1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7fdc8330e044c1b"/>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CFFE3472-43B4-405A-81D3-FECF5B493B83}"/>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Results across the six comparisons</a:t>
            </a:r>
          </a:p>
        </p:txBody>
      </p:sp>
      <p:sp>
        <p:nvSpPr>
          <p:cNvPr id="3" name="text-2">
            <a:extLst xmlns:a="http://schemas.openxmlformats.org/drawingml/2006/main">
              <a:ext uri="{FF2B5EF4-FFF2-40B4-BE49-F238E27FC236}">
                <a16:creationId xmlns:a16="http://schemas.microsoft.com/office/drawing/2014/main" id="{A2968C9C-669A-498B-AC75-4E26FD37C3F3}"/>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RRA candidates at the declared two-direction FDR threshold of 0.05</a:t>
            </a:r>
          </a:p>
        </p:txBody>
      </p:sp>
      <p:sp>
        <p:nvSpPr>
          <p:cNvPr id="4" name="text-3">
            <a:extLst xmlns:a="http://schemas.openxmlformats.org/drawingml/2006/main">
              <a:ext uri="{FF2B5EF4-FFF2-40B4-BE49-F238E27FC236}">
                <a16:creationId xmlns:a16="http://schemas.microsoft.com/office/drawing/2014/main" id="{8211C576-F6A8-4C96-BE9E-795A3DFAC95B}"/>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11</a:t>
            </a:r>
          </a:p>
        </p:txBody>
      </p:sp>
      <p:graphicFrame>
        <p:nvGraphicFramePr>
          <p:cNvPr id="11" name="Chart"/>
          <p:cNvGraphicFramePr/>
          <p:nvPr/>
        </p:nvGraphicFramePr>
        <p:xfrm>
          <a:off xmlns:a="http://schemas.openxmlformats.org/drawingml/2006/main" x="609600" y="238125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4ff25f9d58874d0f"/>
          </a:graphicData>
        </a:graphic>
      </p:graphicFrame>
      <p:sp>
        <p:nvSpPr>
          <p:cNvPr id="6" name="text-5">
            <a:extLst xmlns:a="http://schemas.openxmlformats.org/drawingml/2006/main">
              <a:ext uri="{FF2B5EF4-FFF2-40B4-BE49-F238E27FC236}">
                <a16:creationId xmlns:a16="http://schemas.microsoft.com/office/drawing/2014/main" id="{18C09A3D-833A-46B6-AAB8-4265964DF547}"/>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Each report covers 18,049 genes. These RRA counts do not reproduce the paper’s MLE figure.</a:t>
            </a:r>
          </a:p>
        </p:txBody>
      </p:sp>
    </p:spTree>
    <p:extLst>
      <p:ext uri="{BB962C8B-B14F-4D97-AF65-F5344CB8AC3E}">
        <p14:creationId xmlns:p14="http://schemas.microsoft.com/office/powerpoint/2010/main" val="555153306"/>
      </p:ext>
    </p:extLst>
  </p:cSld>
</p:sld>
</file>

<file path=ppt/slides/slide1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006c627ac2440d0"/>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70CF7B72-D708-4F6C-BD43-A114DADABD0E}"/>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genes, across both methods</a:t>
            </a:r>
          </a:p>
        </p:txBody>
      </p:sp>
      <p:sp>
        <p:nvSpPr>
          <p:cNvPr id="3" name="text-2">
            <a:extLst xmlns:a="http://schemas.openxmlformats.org/drawingml/2006/main">
              <a:ext uri="{FF2B5EF4-FFF2-40B4-BE49-F238E27FC236}">
                <a16:creationId xmlns:a16="http://schemas.microsoft.com/office/drawing/2014/main" id="{F601C5F9-F548-4F2C-AE32-8B4C9B877E0F}"/>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 complete recorded output</a:t>
            </a:r>
          </a:p>
        </p:txBody>
      </p:sp>
      <p:sp>
        <p:nvSpPr>
          <p:cNvPr id="4" name="text-3">
            <a:extLst xmlns:a="http://schemas.openxmlformats.org/drawingml/2006/main">
              <a:ext uri="{FF2B5EF4-FFF2-40B4-BE49-F238E27FC236}">
                <a16:creationId xmlns:a16="http://schemas.microsoft.com/office/drawing/2014/main" id="{2B6BC3BA-1E12-4EFE-8658-17E12CE91E6F}"/>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12</a:t>
            </a:r>
          </a:p>
        </p:txBody>
      </p:sp>
      <p:graphicFrame>
        <p:nvGraphicFramePr>
          <p:cNvPr id="12" name=""/>
          <p:cNvGraphicFramePr/>
          <p:nvPr/>
        </p:nvGraphicFramePr>
        <p:xfrm>
          <a:off xmlns:a="http://schemas.openxmlformats.org/drawingml/2006/main" x="609600" y="2438400"/>
          <a:ext xmlns:a="http://schemas.openxmlformats.org/drawingml/2006/main" cx="10972800" cy="2476500"/>
        </p:xfrm>
        <a:graphic xmlns:a="http://schemas.openxmlformats.org/drawingml/2006/main">
          <a:graphicData uri="http://schemas.openxmlformats.org/drawingml/2006/table">
            <a:tbl>
              <a:tblPr/>
              <a:tblGrid>
                <a:gridCol w="2190750"/>
                <a:gridCol w="3162300"/>
                <a:gridCol w="2667000"/>
                <a:gridCol w="2952750"/>
              </a:tblGrid>
              <a:tr h="619125">
                <a:tc>
                  <a:txBody>
                    <a:bodyPr/>
                    <a:lstStyle/>
                    <a:p>
                      <a:r>
                        <a:rPr sz="2025" b="1">
                          <a:solidFill>
                            <a:srgbClr val="FFFFFF"/>
                          </a:solidFill>
                          <a:latin typeface="Inter"/>
                          <a:ea typeface="Inter"/>
                          <a:cs typeface="Inter"/>
                        </a:rPr>
                        <a:t>Gene</a:t>
                      </a:r>
                    </a:p>
                  </a:txBody>
                  <a:tcPr marL="91440" marR="91440" marT="45720" marB="45720">
                    <a:solidFill>
                      <a:srgbClr val="24334B"/>
                    </a:solidFill>
                  </a:tcPr>
                </a:tc>
                <a:tc>
                  <a:txBody>
                    <a:bodyPr/>
                    <a:lstStyle/>
                    <a:p>
                      <a:r>
                        <a:rPr sz="2025" b="1">
                          <a:solidFill>
                            <a:srgbClr val="FFFFFF"/>
                          </a:solidFill>
                          <a:latin typeface="Inter"/>
                          <a:ea typeface="Inter"/>
                          <a:cs typeface="Inter"/>
                        </a:rPr>
                        <a:t>RRA log₂ change</a:t>
                      </a:r>
                    </a:p>
                  </a:txBody>
                  <a:tcPr marL="91440" marR="91440" marT="45720" marB="45720">
                    <a:solidFill>
                      <a:srgbClr val="24334B"/>
                    </a:solidFill>
                  </a:tcPr>
                </a:tc>
                <a:tc>
                  <a:txBody>
                    <a:bodyPr/>
                    <a:lstStyle/>
                    <a:p>
                      <a:r>
                        <a:rPr sz="2025" b="1">
                          <a:solidFill>
                            <a:srgbClr val="FFFFFF"/>
                          </a:solidFill>
                          <a:latin typeface="Inter"/>
                          <a:ea typeface="Inter"/>
                          <a:cs typeface="Inter"/>
                        </a:rPr>
                        <a:t>MLE beta</a:t>
                      </a:r>
                    </a:p>
                  </a:txBody>
                  <a:tcPr marL="91440" marR="91440" marT="45720" marB="45720">
                    <a:solidFill>
                      <a:srgbClr val="24334B"/>
                    </a:solidFill>
                  </a:tcPr>
                </a:tc>
                <a:tc>
                  <a:txBody>
                    <a:bodyPr/>
                    <a:lstStyle/>
                    <a:p>
                      <a:r>
                        <a:rPr sz="2025" b="1">
                          <a:solidFill>
                            <a:srgbClr val="FFFFFF"/>
                          </a:solidFill>
                          <a:latin typeface="Inter"/>
                          <a:ea typeface="Inter"/>
                          <a:cs typeface="Inter"/>
                        </a:rPr>
                        <a:t>MLE FDR</a:t>
                      </a:r>
                    </a:p>
                  </a:txBody>
                  <a:tcPr marL="91440" marR="91440" marT="45720" marB="45720">
                    <a:solidFill>
                      <a:srgbClr val="24334B"/>
                    </a:solidFill>
                  </a:tcPr>
                </a:tc>
              </a:tr>
              <a:tr h="619125">
                <a:tc>
                  <a:txBody>
                    <a:bodyPr/>
                    <a:lstStyle/>
                    <a:p>
                      <a:r>
                        <a:rPr sz="2025" b="0">
                          <a:solidFill>
                            <a:srgbClr val="4F6470"/>
                          </a:solidFill>
                          <a:latin typeface="Inter"/>
                          <a:ea typeface="Inter"/>
                          <a:cs typeface="Inter"/>
                        </a:rPr>
                        <a:t>FIG4</a:t>
                      </a:r>
                    </a:p>
                  </a:txBody>
                  <a:tcPr marL="91440" marR="91440" marT="45720" marB="45720">
                    <a:solidFill>
                      <a:srgbClr val="FFFFFF"/>
                    </a:solidFill>
                  </a:tcPr>
                </a:tc>
                <a:tc>
                  <a:txBody>
                    <a:bodyPr/>
                    <a:lstStyle/>
                    <a:p>
                      <a:r>
                        <a:rPr sz="2025" b="0">
                          <a:solidFill>
                            <a:srgbClr val="4F6470"/>
                          </a:solidFill>
                          <a:latin typeface="Inter"/>
                          <a:ea typeface="Inter"/>
                          <a:cs typeface="Inter"/>
                        </a:rPr>
                        <a:t>+3.14</a:t>
                      </a:r>
                    </a:p>
                  </a:txBody>
                  <a:tcPr marL="91440" marR="91440" marT="45720" marB="45720">
                    <a:solidFill>
                      <a:srgbClr val="FFFFFF"/>
                    </a:solidFill>
                  </a:tcPr>
                </a:tc>
                <a:tc>
                  <a:txBody>
                    <a:bodyPr/>
                    <a:lstStyle/>
                    <a:p>
                      <a:r>
                        <a:rPr sz="2025" b="0">
                          <a:solidFill>
                            <a:srgbClr val="4F6470"/>
                          </a:solidFill>
                          <a:latin typeface="Inter"/>
                          <a:ea typeface="Inter"/>
                          <a:cs typeface="Inter"/>
                        </a:rPr>
                        <a:t>+1.83</a:t>
                      </a:r>
                    </a:p>
                  </a:txBody>
                  <a:tcPr marL="91440" marR="91440" marT="45720" marB="45720">
                    <a:solidFill>
                      <a:srgbClr val="FFFFFF"/>
                    </a:solidFill>
                  </a:tcPr>
                </a:tc>
                <a:tc>
                  <a:txBody>
                    <a:bodyPr/>
                    <a:lstStyle/>
                    <a:p>
                      <a:r>
                        <a:rPr sz="2025" b="0">
                          <a:solidFill>
                            <a:srgbClr val="4F6470"/>
                          </a:solidFill>
                          <a:latin typeface="Inter"/>
                          <a:ea typeface="Inter"/>
                          <a:cs typeface="Inter"/>
                        </a:rPr>
                        <a:t>0.576</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VAC14</a:t>
                      </a:r>
                    </a:p>
                  </a:txBody>
                  <a:tcPr marL="91440" marR="91440" marT="45720" marB="45720">
                    <a:solidFill>
                      <a:srgbClr val="FFFFFF"/>
                    </a:solidFill>
                  </a:tcPr>
                </a:tc>
                <a:tc>
                  <a:txBody>
                    <a:bodyPr/>
                    <a:lstStyle/>
                    <a:p>
                      <a:r>
                        <a:rPr sz="2025" b="0">
                          <a:solidFill>
                            <a:srgbClr val="4F6470"/>
                          </a:solidFill>
                          <a:latin typeface="Inter"/>
                          <a:ea typeface="Inter"/>
                          <a:cs typeface="Inter"/>
                        </a:rPr>
                        <a:t>+4.96</a:t>
                      </a:r>
                    </a:p>
                  </a:txBody>
                  <a:tcPr marL="91440" marR="91440" marT="45720" marB="45720">
                    <a:solidFill>
                      <a:srgbClr val="FFFFFF"/>
                    </a:solidFill>
                  </a:tcPr>
                </a:tc>
                <a:tc>
                  <a:txBody>
                    <a:bodyPr/>
                    <a:lstStyle/>
                    <a:p>
                      <a:r>
                        <a:rPr sz="2025" b="0">
                          <a:solidFill>
                            <a:srgbClr val="4F6470"/>
                          </a:solidFill>
                          <a:latin typeface="Inter"/>
                          <a:ea typeface="Inter"/>
                          <a:cs typeface="Inter"/>
                        </a:rPr>
                        <a:t>+3.21</a:t>
                      </a:r>
                    </a:p>
                  </a:txBody>
                  <a:tcPr marL="91440" marR="91440" marT="45720" marB="45720">
                    <a:solidFill>
                      <a:srgbClr val="FFFFFF"/>
                    </a:solidFill>
                  </a:tcPr>
                </a:tc>
                <a:tc>
                  <a:txBody>
                    <a:bodyPr/>
                    <a:lstStyle/>
                    <a:p>
                      <a:r>
                        <a:rPr sz="2025" b="0">
                          <a:solidFill>
                            <a:srgbClr val="4F6470"/>
                          </a:solidFill>
                          <a:latin typeface="Inter"/>
                          <a:ea typeface="Inter"/>
                          <a:cs typeface="Inter"/>
                        </a:rPr>
                        <a:t>0.192</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PIKFYVE</a:t>
                      </a:r>
                    </a:p>
                  </a:txBody>
                  <a:tcPr marL="91440" marR="91440" marT="45720" marB="45720">
                    <a:solidFill>
                      <a:srgbClr val="FFFFFF"/>
                    </a:solidFill>
                  </a:tcPr>
                </a:tc>
                <a:tc>
                  <a:txBody>
                    <a:bodyPr/>
                    <a:lstStyle/>
                    <a:p>
                      <a:r>
                        <a:rPr sz="2025" b="0">
                          <a:solidFill>
                            <a:srgbClr val="4F6470"/>
                          </a:solidFill>
                          <a:latin typeface="Inter"/>
                          <a:ea typeface="Inter"/>
                          <a:cs typeface="Inter"/>
                        </a:rPr>
                        <a:t>+0.41</a:t>
                      </a:r>
                    </a:p>
                  </a:txBody>
                  <a:tcPr marL="91440" marR="91440" marT="45720" marB="45720">
                    <a:solidFill>
                      <a:srgbClr val="FFFFFF"/>
                    </a:solidFill>
                  </a:tcPr>
                </a:tc>
                <a:tc>
                  <a:txBody>
                    <a:bodyPr/>
                    <a:lstStyle/>
                    <a:p>
                      <a:r>
                        <a:rPr sz="2025" b="0">
                          <a:solidFill>
                            <a:srgbClr val="4F6470"/>
                          </a:solidFill>
                          <a:latin typeface="Inter"/>
                          <a:ea typeface="Inter"/>
                          <a:cs typeface="Inter"/>
                        </a:rPr>
                        <a:t>+0.44</a:t>
                      </a:r>
                    </a:p>
                  </a:txBody>
                  <a:tcPr marL="91440" marR="91440" marT="45720" marB="45720">
                    <a:solidFill>
                      <a:srgbClr val="FFFFFF"/>
                    </a:solidFill>
                  </a:tcPr>
                </a:tc>
                <a:tc>
                  <a:txBody>
                    <a:bodyPr/>
                    <a:lstStyle/>
                    <a:p>
                      <a:r>
                        <a:rPr sz="2025" b="0">
                          <a:solidFill>
                            <a:srgbClr val="4F6470"/>
                          </a:solidFill>
                          <a:latin typeface="Inter"/>
                          <a:ea typeface="Inter"/>
                          <a:cs typeface="Inter"/>
                        </a:rPr>
                        <a:t>1.000</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C92D7C43-A0A1-4C05-9F43-4265342564F0}"/>
              </a:ext>
            </a:extLst>
          </p:cNvPr>
          <p:cNvSpPr>
            <a:spLocks xmlns:a="http://schemas.openxmlformats.org/drawingml/2006/main" noGrp="1"/>
          </p:cNvSpPr>
          <p:nvPr/>
        </p:nvSpPr>
        <p:spPr>
          <a:xfrm xmlns:a="http://schemas.openxmlformats.org/drawingml/2006/main">
            <a:off x="609600" y="51720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Positive effects and significance are different questions</a:t>
            </a:r>
          </a:p>
        </p:txBody>
      </p:sp>
      <p:sp>
        <p:nvSpPr>
          <p:cNvPr id="7" name="text-6">
            <a:extLst xmlns:a="http://schemas.openxmlformats.org/drawingml/2006/main">
              <a:ext uri="{FF2B5EF4-FFF2-40B4-BE49-F238E27FC236}">
                <a16:creationId xmlns:a16="http://schemas.microsoft.com/office/drawing/2014/main" id="{96E48ADB-10AE-4E2E-B985-4DDDF69B56B2}"/>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Paper beta-score nomination and our declared FDR threshold are different criteria.</a:t>
            </a:r>
          </a:p>
        </p:txBody>
      </p:sp>
    </p:spTree>
    <p:extLst>
      <p:ext uri="{BB962C8B-B14F-4D97-AF65-F5344CB8AC3E}">
        <p14:creationId xmlns:p14="http://schemas.microsoft.com/office/powerpoint/2010/main" val="440135735"/>
      </p:ext>
    </p:extLst>
  </p:cSld>
</p:sld>
</file>

<file path=ppt/slides/slide1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c9d699a5cb842c2"/>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C3A9C3F0-2C56-49F3-A631-BD2FC4EE24C8}"/>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export keeps the underlying evidence</a:t>
            </a:r>
          </a:p>
        </p:txBody>
      </p:sp>
      <p:sp>
        <p:nvSpPr>
          <p:cNvPr id="3" name="text-2">
            <a:extLst xmlns:a="http://schemas.openxmlformats.org/drawingml/2006/main">
              <a:ext uri="{FF2B5EF4-FFF2-40B4-BE49-F238E27FC236}">
                <a16:creationId xmlns:a16="http://schemas.microsoft.com/office/drawing/2014/main" id="{00C557DC-1E72-4DC4-B3B0-30AA4274496E}"/>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CSV for analysis. JSON and receipts for reproducibility.</a:t>
            </a:r>
          </a:p>
        </p:txBody>
      </p:sp>
      <p:sp>
        <p:nvSpPr>
          <p:cNvPr id="4" name="text-3">
            <a:extLst xmlns:a="http://schemas.openxmlformats.org/drawingml/2006/main">
              <a:ext uri="{FF2B5EF4-FFF2-40B4-BE49-F238E27FC236}">
                <a16:creationId xmlns:a16="http://schemas.microsoft.com/office/drawing/2014/main" id="{9A480FA6-6026-4B05-8B4F-DE7B36DF6BFF}"/>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77860e4569c4ac6"/>
          <a:stretch xmlns:a="http://schemas.openxmlformats.org/drawingml/2006/main"/>
        </p:blipFill>
        <p:spPr>
          <a:xfrm xmlns:a="http://schemas.openxmlformats.org/drawingml/2006/main">
            <a:off x="609600" y="3216069"/>
            <a:ext cx="7000875" cy="1549812"/>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8CDBC556-5460-42E7-8AEA-54A8171154C0}"/>
              </a:ext>
            </a:extLst>
          </p:cNvPr>
          <p:cNvSpPr>
            <a:spLocks xmlns:a="http://schemas.openxmlformats.org/drawingml/2006/main" noGrp="1"/>
          </p:cNvSpPr>
          <p:nvPr/>
        </p:nvSpPr>
        <p:spPr>
          <a:xfrm xmlns:a="http://schemas.openxmlformats.org/drawingml/2006/main">
            <a:off x="8096250" y="2571750"/>
            <a:ext cx="34861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18,049 gene rows</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per comparison</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Inputs, settings and</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quality warnings remain</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attached to the run.</a:t>
            </a:r>
          </a:p>
        </p:txBody>
      </p:sp>
      <p:sp>
        <p:nvSpPr>
          <p:cNvPr id="7" name="text-6">
            <a:extLst xmlns:a="http://schemas.openxmlformats.org/drawingml/2006/main">
              <a:ext uri="{FF2B5EF4-FFF2-40B4-BE49-F238E27FC236}">
                <a16:creationId xmlns:a16="http://schemas.microsoft.com/office/drawing/2014/main" id="{2A7B9AC8-1571-416B-87DE-C5712C23A864}"/>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The demo includes the actual downloaded CSV and complete receipts for all six RRA + MLE runs.</a:t>
            </a:r>
          </a:p>
        </p:txBody>
      </p:sp>
    </p:spTree>
    <p:extLst>
      <p:ext uri="{BB962C8B-B14F-4D97-AF65-F5344CB8AC3E}">
        <p14:creationId xmlns:p14="http://schemas.microsoft.com/office/powerpoint/2010/main" val="1170921725"/>
      </p:ext>
    </p:extLst>
  </p:cSld>
</p:sld>
</file>

<file path=ppt/slides/slide1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c2065d017864d00"/>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A137E8A5-B5A2-4E52-A188-00F653505B9B}"/>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Measured runtime and reproducibility</a:t>
            </a:r>
          </a:p>
        </p:txBody>
      </p:sp>
      <p:sp>
        <p:nvSpPr>
          <p:cNvPr id="3" name="text-2">
            <a:extLst xmlns:a="http://schemas.openxmlformats.org/drawingml/2006/main">
              <a:ext uri="{FF2B5EF4-FFF2-40B4-BE49-F238E27FC236}">
                <a16:creationId xmlns:a16="http://schemas.microsoft.com/office/drawing/2014/main" id="{23A21518-D0F6-4C75-8B4B-0053D1EBB8CB}"/>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Completed RRA batch, original deposited count tables</a:t>
            </a:r>
          </a:p>
        </p:txBody>
      </p:sp>
      <p:sp>
        <p:nvSpPr>
          <p:cNvPr id="4" name="text-3">
            <a:extLst xmlns:a="http://schemas.openxmlformats.org/drawingml/2006/main">
              <a:ext uri="{FF2B5EF4-FFF2-40B4-BE49-F238E27FC236}">
                <a16:creationId xmlns:a16="http://schemas.microsoft.com/office/drawing/2014/main" id="{42D13130-EAC1-4117-AFB9-A084CE6AB8FE}"/>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14</a:t>
            </a:r>
          </a:p>
        </p:txBody>
      </p:sp>
      <p:sp>
        <p:nvSpPr>
          <p:cNvPr id="5" name="text-4">
            <a:extLst xmlns:a="http://schemas.openxmlformats.org/drawingml/2006/main">
              <a:ext uri="{FF2B5EF4-FFF2-40B4-BE49-F238E27FC236}">
                <a16:creationId xmlns:a16="http://schemas.microsoft.com/office/drawing/2014/main" id="{1454A455-8A92-4FB7-9C18-FC9AC1DCDA58}"/>
              </a:ext>
            </a:extLst>
          </p:cNvPr>
          <p:cNvSpPr>
            <a:spLocks xmlns:a="http://schemas.openxmlformats.org/drawingml/2006/main" noGrp="1"/>
          </p:cNvSpPr>
          <p:nvPr/>
        </p:nvSpPr>
        <p:spPr>
          <a:xfrm xmlns:a="http://schemas.openxmlformats.org/drawingml/2006/main">
            <a:off x="609600" y="24479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0">
                <a:solidFill>
                  <a:srgbClr val="174F62"/>
                </a:solidFill>
                <a:latin typeface="Instrument Serif"/>
                <a:ea typeface="Instrument Serif"/>
                <a:cs typeface="Instrument Serif"/>
              </a:defRPr>
            </a:pPr>
            <a:r>
              <a:rPr sz="6000" b="0">
                <a:solidFill>
                  <a:srgbClr val="174F62"/>
                </a:solidFill>
                <a:latin typeface="Instrument Serif"/>
                <a:ea typeface="Instrument Serif"/>
                <a:cs typeface="Instrument Serif"/>
              </a:rPr>
              <a:t>6 min 2 sec</a:t>
            </a:r>
          </a:p>
        </p:txBody>
      </p:sp>
      <p:sp>
        <p:nvSpPr>
          <p:cNvPr id="6" name="text-5">
            <a:extLst xmlns:a="http://schemas.openxmlformats.org/drawingml/2006/main">
              <a:ext uri="{FF2B5EF4-FFF2-40B4-BE49-F238E27FC236}">
                <a16:creationId xmlns:a16="http://schemas.microsoft.com/office/drawing/2014/main" id="{25EE9504-250E-43DC-B13C-3F842200F8C4}"/>
              </a:ext>
            </a:extLst>
          </p:cNvPr>
          <p:cNvSpPr>
            <a:spLocks xmlns:a="http://schemas.openxmlformats.org/drawingml/2006/main" noGrp="1"/>
          </p:cNvSpPr>
          <p:nvPr/>
        </p:nvSpPr>
        <p:spPr>
          <a:xfrm xmlns:a="http://schemas.openxmlformats.org/drawingml/2006/main">
            <a:off x="647700" y="34766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First worker start to last worker finish across six comparisons</a:t>
            </a:r>
          </a:p>
        </p:txBody>
      </p:sp>
      <p:sp>
        <p:nvSpPr>
          <p:cNvPr id="7" name="text-6">
            <a:extLst xmlns:a="http://schemas.openxmlformats.org/drawingml/2006/main">
              <a:ext uri="{FF2B5EF4-FFF2-40B4-BE49-F238E27FC236}">
                <a16:creationId xmlns:a16="http://schemas.microsoft.com/office/drawing/2014/main" id="{E7EFF456-EA41-4600-BC2B-DB1581B15BAF}"/>
              </a:ext>
            </a:extLst>
          </p:cNvPr>
          <p:cNvSpPr>
            <a:spLocks xmlns:a="http://schemas.openxmlformats.org/drawingml/2006/main" noGrp="1"/>
          </p:cNvSpPr>
          <p:nvPr/>
        </p:nvSpPr>
        <p:spPr>
          <a:xfrm xmlns:a="http://schemas.openxmlformats.org/drawingml/2006/main">
            <a:off x="647700" y="45529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97–126 sec per worker</a:t>
            </a:r>
          </a:p>
        </p:txBody>
      </p:sp>
      <p:sp>
        <p:nvSpPr>
          <p:cNvPr id="8" name="text-7">
            <a:extLst xmlns:a="http://schemas.openxmlformats.org/drawingml/2006/main">
              <a:ext uri="{FF2B5EF4-FFF2-40B4-BE49-F238E27FC236}">
                <a16:creationId xmlns:a16="http://schemas.microsoft.com/office/drawing/2014/main" id="{3B4A9184-4A12-434E-81B9-A5AFBC77B5E7}"/>
              </a:ext>
            </a:extLst>
          </p:cNvPr>
          <p:cNvSpPr>
            <a:spLocks xmlns:a="http://schemas.openxmlformats.org/drawingml/2006/main" noGrp="1"/>
          </p:cNvSpPr>
          <p:nvPr/>
        </p:nvSpPr>
        <p:spPr>
          <a:xfrm xmlns:a="http://schemas.openxmlformats.org/drawingml/2006/main">
            <a:off x="647700" y="52006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4F62"/>
                </a:solidFill>
                <a:latin typeface="Inter"/>
                <a:ea typeface="Inter"/>
                <a:cs typeface="Inter"/>
              </a:defRPr>
            </a:pPr>
            <a:r>
              <a:rPr sz="2250" b="0">
                <a:solidFill>
                  <a:srgbClr val="174F62"/>
                </a:solidFill>
                <a:latin typeface="Inter"/>
                <a:ea typeface="Inter"/>
                <a:cs typeface="Inter"/>
              </a:rPr>
              <a:t>Local and cloud primary statistics agree exactly</a:t>
            </a:r>
          </a:p>
        </p:txBody>
      </p:sp>
      <p:sp>
        <p:nvSpPr>
          <p:cNvPr id="9" name="text-8">
            <a:extLst xmlns:a="http://schemas.openxmlformats.org/drawingml/2006/main">
              <a:ext uri="{FF2B5EF4-FFF2-40B4-BE49-F238E27FC236}">
                <a16:creationId xmlns:a16="http://schemas.microsoft.com/office/drawing/2014/main" id="{982CA63E-A227-407A-85FE-B2E6588763DF}"/>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RRA timing shown. Initial full MLE cohort: 5 h 5 min, including retries. Upload time excluded.</a:t>
            </a:r>
          </a:p>
        </p:txBody>
      </p:sp>
    </p:spTree>
    <p:extLst>
      <p:ext uri="{BB962C8B-B14F-4D97-AF65-F5344CB8AC3E}">
        <p14:creationId xmlns:p14="http://schemas.microsoft.com/office/powerpoint/2010/main" val="1281769254"/>
      </p:ext>
    </p:extLst>
  </p:cSld>
</p:sld>
</file>

<file path=ppt/slides/slide1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a138f559abe4c03"/>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3BC47F2-A9F5-498D-8980-1190A95E508B}"/>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alongside Broad Apron</a:t>
            </a:r>
          </a:p>
        </p:txBody>
      </p:sp>
      <p:sp>
        <p:nvSpPr>
          <p:cNvPr id="3" name="text-2">
            <a:extLst xmlns:a="http://schemas.openxmlformats.org/drawingml/2006/main">
              <a:ext uri="{FF2B5EF4-FFF2-40B4-BE49-F238E27FC236}">
                <a16:creationId xmlns:a16="http://schemas.microsoft.com/office/drawing/2014/main" id="{367601FA-B042-4956-90F5-5EF01859D95A}"/>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Apron already offers a strong guided analysis workflow</a:t>
            </a:r>
          </a:p>
        </p:txBody>
      </p:sp>
      <p:sp>
        <p:nvSpPr>
          <p:cNvPr id="4" name="text-3">
            <a:extLst xmlns:a="http://schemas.openxmlformats.org/drawingml/2006/main">
              <a:ext uri="{FF2B5EF4-FFF2-40B4-BE49-F238E27FC236}">
                <a16:creationId xmlns:a16="http://schemas.microsoft.com/office/drawing/2014/main" id="{E5D447F9-D2BA-483A-B448-D4FD96A3C040}"/>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15</a:t>
            </a:r>
          </a:p>
        </p:txBody>
      </p:sp>
      <p:graphicFrame>
        <p:nvGraphicFramePr>
          <p:cNvPr id="11" name=""/>
          <p:cNvGraphicFramePr/>
          <p:nvPr/>
        </p:nvGraphicFramePr>
        <p:xfrm>
          <a:off xmlns:a="http://schemas.openxmlformats.org/drawingml/2006/main" x="609600" y="2324100"/>
          <a:ext xmlns:a="http://schemas.openxmlformats.org/drawingml/2006/main" cx="10972800" cy="3248025"/>
        </p:xfrm>
        <a:graphic xmlns:a="http://schemas.openxmlformats.org/drawingml/2006/main">
          <a:graphicData uri="http://schemas.openxmlformats.org/drawingml/2006/table">
            <a:tbl>
              <a:tblPr/>
              <a:tblGrid>
                <a:gridCol w="2333625"/>
                <a:gridCol w="4191000"/>
                <a:gridCol w="4448175"/>
              </a:tblGrid>
              <a:tr h="649605">
                <a:tc>
                  <a:txBody>
                    <a:bodyPr/>
                    <a:lstStyle/>
                    <a:p>
                      <a:r>
                        <a:rPr sz="1725" b="1">
                          <a:solidFill>
                            <a:srgbClr val="FFFFFF"/>
                          </a:solidFill>
                          <a:latin typeface="Inter"/>
                          <a:ea typeface="Inter"/>
                          <a:cs typeface="Inter"/>
                        </a:rPr>
                        <a:t>This study</a:t>
                      </a:r>
                    </a:p>
                  </a:txBody>
                  <a:tcPr marL="91440" marR="91440" marT="45720" marB="45720">
                    <a:solidFill>
                      <a:srgbClr val="24334B"/>
                    </a:solidFill>
                  </a:tcPr>
                </a:tc>
                <a:tc>
                  <a:txBody>
                    <a:bodyPr/>
                    <a:lstStyle/>
                    <a:p>
                      <a:r>
                        <a:rPr sz="1725" b="1">
                          <a:solidFill>
                            <a:srgbClr val="FFFFFF"/>
                          </a:solidFill>
                          <a:latin typeface="Inter"/>
                          <a:ea typeface="Inter"/>
                          <a:cs typeface="Inter"/>
                        </a:rPr>
                        <a:t>Broad Apron guide</a:t>
                      </a:r>
                    </a:p>
                  </a:txBody>
                  <a:tcPr marL="91440" marR="91440" marT="45720" marB="45720">
                    <a:solidFill>
                      <a:srgbClr val="24334B"/>
                    </a:solidFill>
                  </a:tcPr>
                </a:tc>
                <a:tc>
                  <a:txBody>
                    <a:bodyPr/>
                    <a:lstStyle/>
                    <a:p>
                      <a:r>
                        <a:rPr sz="1725" b="1">
                          <a:solidFill>
                            <a:srgbClr val="FFFFFF"/>
                          </a:solidFill>
                          <a:latin typeface="Inter"/>
                          <a:ea typeface="Inter"/>
                          <a:cs typeface="Inter"/>
                        </a:rPr>
                        <a:t>SplicR demonstration</a:t>
                      </a:r>
                    </a:p>
                  </a:txBody>
                  <a:tcPr marL="91440" marR="91440" marT="45720" marB="45720">
                    <a:solidFill>
                      <a:srgbClr val="24334B"/>
                    </a:solidFill>
                  </a:tcPr>
                </a:tc>
              </a:tr>
              <a:tr h="649605">
                <a:tc>
                  <a:txBody>
                    <a:bodyPr/>
                    <a:lstStyle/>
                    <a:p>
                      <a:r>
                        <a:rPr sz="1725" b="0">
                          <a:solidFill>
                            <a:srgbClr val="4F6470"/>
                          </a:solidFill>
                          <a:latin typeface="Inter"/>
                          <a:ea typeface="Inter"/>
                          <a:cs typeface="Inter"/>
                        </a:rPr>
                        <a:t>Starting files</a:t>
                      </a:r>
                    </a:p>
                  </a:txBody>
                  <a:tcPr marL="91440" marR="91440" marT="45720" marB="45720">
                    <a:solidFill>
                      <a:srgbClr val="FFFFFF"/>
                    </a:solidFill>
                  </a:tcPr>
                </a:tc>
                <a:tc>
                  <a:txBody>
                    <a:bodyPr/>
                    <a:lstStyle/>
                    <a:p>
                      <a:r>
                        <a:rPr sz="1725" b="0">
                          <a:solidFill>
                            <a:srgbClr val="4F6470"/>
                          </a:solidFill>
                          <a:latin typeface="Inter"/>
                          <a:ea typeface="Inter"/>
                          <a:cs typeface="Inter"/>
                        </a:rPr>
                        <a:t>PoolQ counts and annotations</a:t>
                      </a:r>
                    </a:p>
                    <a:p>
                      <a:r>
                        <a:rPr sz="1725" b="0">
                          <a:solidFill>
                            <a:srgbClr val="4F6470"/>
                          </a:solidFill>
                          <a:latin typeface="Inter"/>
                          <a:ea typeface="Inter"/>
                          <a:cs typeface="Inter"/>
                        </a:rPr>
                        <a:t>Other inputs need formatting</a:t>
                      </a:r>
                    </a:p>
                  </a:txBody>
                  <a:tcPr marL="91440" marR="91440" marT="45720" marB="45720">
                    <a:solidFill>
                      <a:srgbClr val="FFFFFF"/>
                    </a:solidFill>
                  </a:tcPr>
                </a:tc>
                <a:tc>
                  <a:txBody>
                    <a:bodyPr/>
                    <a:lstStyle/>
                    <a:p>
                      <a:r>
                        <a:rPr sz="1725" b="0">
                          <a:solidFill>
                            <a:srgbClr val="4F6470"/>
                          </a:solidFill>
                          <a:latin typeface="Inter"/>
                          <a:ea typeface="Inter"/>
                          <a:cs typeface="Inter"/>
                        </a:rPr>
                        <a:t>Original deposited count tables</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Design setup</a:t>
                      </a:r>
                    </a:p>
                  </a:txBody>
                  <a:tcPr marL="91440" marR="91440" marT="45720" marB="45720">
                    <a:solidFill>
                      <a:srgbClr val="FFFFFF"/>
                    </a:solidFill>
                  </a:tcPr>
                </a:tc>
                <a:tc>
                  <a:txBody>
                    <a:bodyPr/>
                    <a:lstStyle/>
                    <a:p>
                      <a:r>
                        <a:rPr sz="1725" b="0">
                          <a:solidFill>
                            <a:srgbClr val="4F6470"/>
                          </a:solidFill>
                          <a:latin typeface="Inter"/>
                          <a:ea typeface="Inter"/>
                          <a:cs typeface="Inter"/>
                        </a:rPr>
                        <a:t>User defines references</a:t>
                      </a:r>
                    </a:p>
                    <a:p>
                      <a:r>
                        <a:rPr sz="1725" b="0">
                          <a:solidFill>
                            <a:srgbClr val="4F6470"/>
                          </a:solidFill>
                          <a:latin typeface="Inter"/>
                          <a:ea typeface="Inter"/>
                          <a:cs typeface="Inter"/>
                        </a:rPr>
                        <a:t>and data configurations</a:t>
                      </a:r>
                    </a:p>
                  </a:txBody>
                  <a:tcPr marL="91440" marR="91440" marT="45720" marB="45720">
                    <a:solidFill>
                      <a:srgbClr val="FFFFFF"/>
                    </a:solidFill>
                  </a:tcPr>
                </a:tc>
                <a:tc>
                  <a:txBody>
                    <a:bodyPr/>
                    <a:lstStyle/>
                    <a:p>
                      <a:r>
                        <a:rPr sz="1725" b="0">
                          <a:solidFill>
                            <a:srgbClr val="4F6470"/>
                          </a:solidFill>
                          <a:latin typeface="Inter"/>
                          <a:ea typeface="Inter"/>
                          <a:cs typeface="Inter"/>
                        </a:rPr>
                        <a:t>Six editable suggestions</a:t>
                      </a:r>
                    </a:p>
                    <a:p>
                      <a:r>
                        <a:rPr sz="1725" b="0">
                          <a:solidFill>
                            <a:srgbClr val="4F6470"/>
                          </a:solidFill>
                          <a:latin typeface="Inter"/>
                          <a:ea typeface="Inter"/>
                          <a:cs typeface="Inter"/>
                        </a:rPr>
                        <a:t>from verified source identity</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Gene statistics</a:t>
                      </a:r>
                    </a:p>
                  </a:txBody>
                  <a:tcPr marL="91440" marR="91440" marT="45720" marB="45720">
                    <a:solidFill>
                      <a:srgbClr val="FFFFFF"/>
                    </a:solidFill>
                  </a:tcPr>
                </a:tc>
                <a:tc>
                  <a:txBody>
                    <a:bodyPr/>
                    <a:lstStyle/>
                    <a:p>
                      <a:r>
                        <a:rPr sz="1725" b="0">
                          <a:solidFill>
                            <a:srgbClr val="4F6470"/>
                          </a:solidFill>
                          <a:latin typeface="Inter"/>
                          <a:ea typeface="Inter"/>
                          <a:cs typeface="Inter"/>
                        </a:rPr>
                        <a:t>Control-set z-scores</a:t>
                      </a:r>
                    </a:p>
                    <a:p>
                      <a:r>
                        <a:rPr sz="1725" b="0">
                          <a:solidFill>
                            <a:srgbClr val="4F6470"/>
                          </a:solidFill>
                          <a:latin typeface="Inter"/>
                          <a:ea typeface="Inter"/>
                          <a:cs typeface="Inter"/>
                        </a:rPr>
                        <a:t>and empirical null</a:t>
                      </a:r>
                    </a:p>
                  </a:txBody>
                  <a:tcPr marL="91440" marR="91440" marT="45720" marB="45720">
                    <a:solidFill>
                      <a:srgbClr val="FFFFFF"/>
                    </a:solidFill>
                  </a:tcPr>
                </a:tc>
                <a:tc>
                  <a:txBody>
                    <a:bodyPr/>
                    <a:lstStyle/>
                    <a:p>
                      <a:r>
                        <a:rPr sz="1725" b="0">
                          <a:solidFill>
                            <a:srgbClr val="4F6470"/>
                          </a:solidFill>
                          <a:latin typeface="Inter"/>
                          <a:ea typeface="Inter"/>
                          <a:cs typeface="Inter"/>
                        </a:rPr>
                        <a:t>MAGeCK RRA</a:t>
                      </a:r>
                    </a:p>
                    <a:p>
                      <a:r>
                        <a:rPr sz="1725" b="0">
                          <a:solidFill>
                            <a:srgbClr val="4F6470"/>
                          </a:solidFill>
                          <a:latin typeface="Inter"/>
                          <a:ea typeface="Inter"/>
                          <a:cs typeface="Inter"/>
                        </a:rPr>
                        <a:t>Optional separate MLE</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Extra study context</a:t>
                      </a:r>
                    </a:p>
                  </a:txBody>
                  <a:tcPr marL="91440" marR="91440" marT="45720" marB="45720">
                    <a:solidFill>
                      <a:srgbClr val="FFFFFF"/>
                    </a:solidFill>
                  </a:tcPr>
                </a:tc>
                <a:tc>
                  <a:txBody>
                    <a:bodyPr/>
                    <a:lstStyle/>
                    <a:p>
                      <a:r>
                        <a:rPr sz="1725" b="0">
                          <a:solidFill>
                            <a:srgbClr val="4F6470"/>
                          </a:solidFill>
                          <a:latin typeface="Inter"/>
                          <a:ea typeface="Inter"/>
                          <a:cs typeface="Inter"/>
                        </a:rPr>
                        <a:t>Guide describes QC and</a:t>
                      </a:r>
                    </a:p>
                    <a:p>
                      <a:r>
                        <a:rPr sz="1725" b="0">
                          <a:solidFill>
                            <a:srgbClr val="4F6470"/>
                          </a:solidFill>
                          <a:latin typeface="Inter"/>
                          <a:ea typeface="Inter"/>
                          <a:cs typeface="Inter"/>
                        </a:rPr>
                        <a:t>analysis exports</a:t>
                      </a:r>
                    </a:p>
                  </a:txBody>
                  <a:tcPr marL="91440" marR="91440" marT="45720" marB="45720">
                    <a:solidFill>
                      <a:srgbClr val="FFFFFF"/>
                    </a:solidFill>
                  </a:tcPr>
                </a:tc>
                <a:tc>
                  <a:txBody>
                    <a:bodyPr/>
                    <a:lstStyle/>
                    <a:p>
                      <a:r>
                        <a:rPr sz="1725" b="0">
                          <a:solidFill>
                            <a:srgbClr val="4F6470"/>
                          </a:solidFill>
                          <a:latin typeface="Inter"/>
                          <a:ea typeface="Inter"/>
                          <a:cs typeface="Inter"/>
                        </a:rPr>
                        <a:t>Guide-ID annotation repair</a:t>
                      </a:r>
                    </a:p>
                    <a:p>
                      <a:r>
                        <a:rPr sz="1725" b="0">
                          <a:solidFill>
                            <a:srgbClr val="4F6470"/>
                          </a:solidFill>
                          <a:latin typeface="Inter"/>
                          <a:ea typeface="Inter"/>
                          <a:cs typeface="Inter"/>
                        </a:rPr>
                        <a:t>Publication-held-out Atlas context</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C4A9CCCE-D21F-4512-873C-D16D7FDA6F11}"/>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Documented workflow comparison. No head-to-head accuracy or runtime benchmark.</a:t>
            </a:r>
          </a:p>
        </p:txBody>
      </p:sp>
    </p:spTree>
    <p:extLst>
      <p:ext uri="{BB962C8B-B14F-4D97-AF65-F5344CB8AC3E}">
        <p14:creationId xmlns:p14="http://schemas.microsoft.com/office/powerpoint/2010/main" val="1729624540"/>
      </p:ext>
    </p:extLst>
  </p:cSld>
</p:sld>
</file>

<file path=ppt/slides/slide1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db6d89f8c7f406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22577FB0-EF44-44BC-A495-736D3B75286A}"/>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Other tools and SplicR’s role</a:t>
            </a:r>
          </a:p>
        </p:txBody>
      </p:sp>
      <p:sp>
        <p:nvSpPr>
          <p:cNvPr id="3" name="text-2">
            <a:extLst xmlns:a="http://schemas.openxmlformats.org/drawingml/2006/main">
              <a:ext uri="{FF2B5EF4-FFF2-40B4-BE49-F238E27FC236}">
                <a16:creationId xmlns:a16="http://schemas.microsoft.com/office/drawing/2014/main" id="{F0DA1B4C-D03D-4EEB-96ED-1D7AB693A6DA}"/>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Established methods remain the statistical foundation</a:t>
            </a:r>
          </a:p>
        </p:txBody>
      </p:sp>
      <p:sp>
        <p:nvSpPr>
          <p:cNvPr id="4" name="text-3">
            <a:extLst xmlns:a="http://schemas.openxmlformats.org/drawingml/2006/main">
              <a:ext uri="{FF2B5EF4-FFF2-40B4-BE49-F238E27FC236}">
                <a16:creationId xmlns:a16="http://schemas.microsoft.com/office/drawing/2014/main" id="{40CAC449-96AA-482C-AD8C-C26BA06ED876}"/>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16</a:t>
            </a:r>
          </a:p>
        </p:txBody>
      </p:sp>
      <p:graphicFrame>
        <p:nvGraphicFramePr>
          <p:cNvPr id="11" name=""/>
          <p:cNvGraphicFramePr/>
          <p:nvPr/>
        </p:nvGraphicFramePr>
        <p:xfrm>
          <a:off xmlns:a="http://schemas.openxmlformats.org/drawingml/2006/main" x="609600" y="2362200"/>
          <a:ext xmlns:a="http://schemas.openxmlformats.org/drawingml/2006/main" cx="10972800" cy="2952750"/>
        </p:xfrm>
        <a:graphic xmlns:a="http://schemas.openxmlformats.org/drawingml/2006/main">
          <a:graphicData uri="http://schemas.openxmlformats.org/drawingml/2006/table">
            <a:tbl>
              <a:tblPr/>
              <a:tblGrid>
                <a:gridCol w="2333625"/>
                <a:gridCol w="4191000"/>
                <a:gridCol w="4448175"/>
              </a:tblGrid>
              <a:tr h="738188">
                <a:tc>
                  <a:txBody>
                    <a:bodyPr/>
                    <a:lstStyle/>
                    <a:p>
                      <a:r>
                        <a:rPr sz="1800" b="1">
                          <a:solidFill>
                            <a:srgbClr val="FFFFFF"/>
                          </a:solidFill>
                          <a:latin typeface="Inter"/>
                          <a:ea typeface="Inter"/>
                          <a:cs typeface="Inter"/>
                        </a:rPr>
                        <a:t>Tool</a:t>
                      </a:r>
                    </a:p>
                  </a:txBody>
                  <a:tcPr marL="91440" marR="91440" marT="45720" marB="45720">
                    <a:solidFill>
                      <a:srgbClr val="24334B"/>
                    </a:solidFill>
                  </a:tcPr>
                </a:tc>
                <a:tc>
                  <a:txBody>
                    <a:bodyPr/>
                    <a:lstStyle/>
                    <a:p>
                      <a:r>
                        <a:rPr sz="1800" b="1">
                          <a:solidFill>
                            <a:srgbClr val="FFFFFF"/>
                          </a:solidFill>
                          <a:latin typeface="Inter"/>
                          <a:ea typeface="Inter"/>
                          <a:cs typeface="Inter"/>
                        </a:rPr>
                        <a:t>Established strength</a:t>
                      </a:r>
                    </a:p>
                  </a:txBody>
                  <a:tcPr marL="91440" marR="91440" marT="45720" marB="45720">
                    <a:solidFill>
                      <a:srgbClr val="24334B"/>
                    </a:solidFill>
                  </a:tcPr>
                </a:tc>
                <a:tc>
                  <a:txBody>
                    <a:bodyPr/>
                    <a:lstStyle/>
                    <a:p>
                      <a:r>
                        <a:rPr sz="1800" b="1">
                          <a:solidFill>
                            <a:srgbClr val="FFFFFF"/>
                          </a:solidFill>
                          <a:latin typeface="Inter"/>
                          <a:ea typeface="Inter"/>
                          <a:cs typeface="Inter"/>
                        </a:rPr>
                        <a:t>SplicR’s role in this demo</a:t>
                      </a:r>
                    </a:p>
                  </a:txBody>
                  <a:tcPr marL="91440" marR="91440" marT="45720" marB="45720">
                    <a:solidFill>
                      <a:srgbClr val="24334B"/>
                    </a:solidFill>
                  </a:tcPr>
                </a:tc>
              </a:tr>
              <a:tr h="738188">
                <a:tc>
                  <a:txBody>
                    <a:bodyPr/>
                    <a:lstStyle/>
                    <a:p>
                      <a:r>
                        <a:rPr sz="1800" b="0">
                          <a:solidFill>
                            <a:srgbClr val="4F6470"/>
                          </a:solidFill>
                          <a:latin typeface="Inter"/>
                          <a:ea typeface="Inter"/>
                          <a:cs typeface="Inter"/>
                        </a:rPr>
                        <a:t>MAGeCK</a:t>
                      </a:r>
                    </a:p>
                  </a:txBody>
                  <a:tcPr marL="91440" marR="91440" marT="45720" marB="45720">
                    <a:solidFill>
                      <a:srgbClr val="FFFFFF"/>
                    </a:solidFill>
                  </a:tcPr>
                </a:tc>
                <a:tc>
                  <a:txBody>
                    <a:bodyPr/>
                    <a:lstStyle/>
                    <a:p>
                      <a:r>
                        <a:rPr sz="1800" b="0">
                          <a:solidFill>
                            <a:srgbClr val="4F6470"/>
                          </a:solidFill>
                          <a:latin typeface="Inter"/>
                          <a:ea typeface="Inter"/>
                          <a:cs typeface="Inter"/>
                        </a:rPr>
                        <a:t>RRA and MLE</a:t>
                      </a:r>
                    </a:p>
                    <a:p>
                      <a:r>
                        <a:rPr sz="1800" b="0">
                          <a:solidFill>
                            <a:srgbClr val="4F6470"/>
                          </a:solidFill>
                          <a:latin typeface="Inter"/>
                          <a:ea typeface="Inter"/>
                          <a:cs typeface="Inter"/>
                        </a:rPr>
                        <a:t>Explicit experimental designs</a:t>
                      </a:r>
                    </a:p>
                  </a:txBody>
                  <a:tcPr marL="91440" marR="91440" marT="45720" marB="45720">
                    <a:solidFill>
                      <a:srgbClr val="FFFFFF"/>
                    </a:solidFill>
                  </a:tcPr>
                </a:tc>
                <a:tc>
                  <a:txBody>
                    <a:bodyPr/>
                    <a:lstStyle/>
                    <a:p>
                      <a:r>
                        <a:rPr sz="1800" b="0">
                          <a:solidFill>
                            <a:srgbClr val="4F6470"/>
                          </a:solidFill>
                          <a:latin typeface="Inter"/>
                          <a:ea typeface="Inter"/>
                          <a:cs typeface="Inter"/>
                        </a:rPr>
                        <a:t>Guided setup, hosted compute</a:t>
                      </a:r>
                    </a:p>
                    <a:p>
                      <a:r>
                        <a:rPr sz="1800" b="0">
                          <a:solidFill>
                            <a:srgbClr val="4F6470"/>
                          </a:solidFill>
                          <a:latin typeface="Inter"/>
                          <a:ea typeface="Inter"/>
                          <a:cs typeface="Inter"/>
                        </a:rPr>
                        <a:t>and reviewable reports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PinAPL-Py</a:t>
                      </a:r>
                    </a:p>
                  </a:txBody>
                  <a:tcPr marL="91440" marR="91440" marT="45720" marB="45720">
                    <a:solidFill>
                      <a:srgbClr val="FFFFFF"/>
                    </a:solidFill>
                  </a:tcPr>
                </a:tc>
                <a:tc>
                  <a:txBody>
                    <a:bodyPr/>
                    <a:lstStyle/>
                    <a:p>
                      <a:r>
                        <a:rPr sz="1800" b="0">
                          <a:solidFill>
                            <a:srgbClr val="4F6470"/>
                          </a:solidFill>
                          <a:latin typeface="Inter"/>
                          <a:ea typeface="Inter"/>
                          <a:cs typeface="Inter"/>
                        </a:rPr>
                        <a:t>Web analysis, custom libraries</a:t>
                      </a:r>
                    </a:p>
                    <a:p>
                      <a:r>
                        <a:rPr sz="1800" b="0">
                          <a:solidFill>
                            <a:srgbClr val="4F6470"/>
                          </a:solidFill>
                          <a:latin typeface="Inter"/>
                          <a:ea typeface="Inter"/>
                          <a:cs typeface="Inter"/>
                        </a:rPr>
                        <a:t>Automated read extraction</a:t>
                      </a:r>
                    </a:p>
                  </a:txBody>
                  <a:tcPr marL="91440" marR="91440" marT="45720" marB="45720">
                    <a:solidFill>
                      <a:srgbClr val="FFFFFF"/>
                    </a:solidFill>
                  </a:tcPr>
                </a:tc>
                <a:tc>
                  <a:txBody>
                    <a:bodyPr/>
                    <a:lstStyle/>
                    <a:p>
                      <a:r>
                        <a:rPr sz="1800" b="0">
                          <a:solidFill>
                            <a:srgbClr val="4F6470"/>
                          </a:solidFill>
                          <a:latin typeface="Inter"/>
                          <a:ea typeface="Inter"/>
                          <a:cs typeface="Inter"/>
                        </a:rPr>
                        <a:t>Shared workspace context</a:t>
                      </a:r>
                    </a:p>
                    <a:p>
                      <a:r>
                        <a:rPr sz="1800" b="0">
                          <a:solidFill>
                            <a:srgbClr val="4F6470"/>
                          </a:solidFill>
                          <a:latin typeface="Inter"/>
                          <a:ea typeface="Inter"/>
                          <a:cs typeface="Inter"/>
                        </a:rPr>
                        <a:t>and source-linked run receipts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Broad Apron</a:t>
                      </a:r>
                    </a:p>
                  </a:txBody>
                  <a:tcPr marL="91440" marR="91440" marT="45720" marB="45720">
                    <a:solidFill>
                      <a:srgbClr val="FFFFFF"/>
                    </a:solidFill>
                  </a:tcPr>
                </a:tc>
                <a:tc>
                  <a:txBody>
                    <a:bodyPr/>
                    <a:lstStyle/>
                    <a:p>
                      <a:r>
                        <a:rPr sz="1800" b="0">
                          <a:solidFill>
                            <a:srgbClr val="4F6470"/>
                          </a:solidFill>
                          <a:latin typeface="Inter"/>
                          <a:ea typeface="Inter"/>
                          <a:cs typeface="Inter"/>
                        </a:rPr>
                        <a:t>Guided QC and</a:t>
                      </a:r>
                    </a:p>
                    <a:p>
                      <a:r>
                        <a:rPr sz="1800" b="0">
                          <a:solidFill>
                            <a:srgbClr val="4F6470"/>
                          </a:solidFill>
                          <a:latin typeface="Inter"/>
                          <a:ea typeface="Inter"/>
                          <a:cs typeface="Inter"/>
                        </a:rPr>
                        <a:t>control-set gene aggregation</a:t>
                      </a:r>
                    </a:p>
                  </a:txBody>
                  <a:tcPr marL="91440" marR="91440" marT="45720" marB="45720">
                    <a:solidFill>
                      <a:srgbClr val="FFFFFF"/>
                    </a:solidFill>
                  </a:tcPr>
                </a:tc>
                <a:tc>
                  <a:txBody>
                    <a:bodyPr/>
                    <a:lstStyle/>
                    <a:p>
                      <a:r>
                        <a:rPr sz="1800" b="0">
                          <a:solidFill>
                            <a:srgbClr val="4F6470"/>
                          </a:solidFill>
                          <a:latin typeface="Inter"/>
                          <a:ea typeface="Inter"/>
                          <a:cs typeface="Inter"/>
                        </a:rPr>
                        <a:t>Verified study intake</a:t>
                      </a:r>
                    </a:p>
                    <a:p>
                      <a:r>
                        <a:rPr sz="1800" b="0">
                          <a:solidFill>
                            <a:srgbClr val="4F6470"/>
                          </a:solidFill>
                          <a:latin typeface="Inter"/>
                          <a:ea typeface="Inter"/>
                          <a:cs typeface="Inter"/>
                        </a:rPr>
                        <a:t>and guide-ID annotation repair</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043C0123-B164-44A6-B3E4-66AA35B79F81}"/>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SplicR has no demonstrated universal accuracy advantage over these methods.</a:t>
            </a:r>
          </a:p>
        </p:txBody>
      </p:sp>
    </p:spTree>
    <p:extLst>
      <p:ext uri="{BB962C8B-B14F-4D97-AF65-F5344CB8AC3E}">
        <p14:creationId xmlns:p14="http://schemas.microsoft.com/office/powerpoint/2010/main" val="1335461472"/>
      </p:ext>
    </p:extLst>
  </p:cSld>
</p:sld>
</file>

<file path=ppt/slides/slide1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0be0fe4590b4323"/>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D3FED98E-7F65-41EB-8FE7-C0C4D06A7603}"/>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reusable workflow for other labs</a:t>
            </a:r>
          </a:p>
        </p:txBody>
      </p:sp>
      <p:sp>
        <p:nvSpPr>
          <p:cNvPr id="3" name="text-2">
            <a:extLst xmlns:a="http://schemas.openxmlformats.org/drawingml/2006/main">
              <a:ext uri="{FF2B5EF4-FFF2-40B4-BE49-F238E27FC236}">
                <a16:creationId xmlns:a16="http://schemas.microsoft.com/office/drawing/2014/main" id="{FB19AE30-05E5-4686-B289-2A737E0C25C7}"/>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17</a:t>
            </a:r>
          </a:p>
        </p:txBody>
      </p:sp>
      <p:sp>
        <p:nvSpPr>
          <p:cNvPr id="4" name="text-3">
            <a:extLst xmlns:a="http://schemas.openxmlformats.org/drawingml/2006/main">
              <a:ext uri="{FF2B5EF4-FFF2-40B4-BE49-F238E27FC236}">
                <a16:creationId xmlns:a16="http://schemas.microsoft.com/office/drawing/2014/main" id="{5824C602-2AA3-442C-AEEA-5E0EFA2F1B3F}"/>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Researchers can change sample roles, replicates and factors.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Their experiment determines the configuration.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0d946bf85c349bd"/>
          <a:stretch xmlns:a="http://schemas.openxmlformats.org/drawingml/2006/main"/>
        </p:blipFill>
        <p:spPr>
          <a:xfrm xmlns:a="http://schemas.openxmlformats.org/drawingml/2006/main">
            <a:off x="3905250" y="3379082"/>
            <a:ext cx="7677150" cy="1052337"/>
          </a:xfrm>
          <a:prstGeom xmlns:a="http://schemas.openxmlformats.org/drawingml/2006/main" prst="rect">
            <a:avLst/>
          </a:prstGeom>
        </p:spPr>
      </p:pic>
    </p:spTree>
    <p:extLst>
      <p:ext uri="{BB962C8B-B14F-4D97-AF65-F5344CB8AC3E}">
        <p14:creationId xmlns:p14="http://schemas.microsoft.com/office/powerpoint/2010/main" val="156065917"/>
      </p:ext>
    </p:extLst>
  </p:cSld>
</p:sld>
</file>

<file path=ppt/slides/slide18.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c17d30745db4c1f"/>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AB0C5704-986F-4159-9FA7-2A8328D8A14C}"/>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FFFFFF"/>
                </a:solidFill>
                <a:latin typeface="Inter"/>
                <a:ea typeface="Inter"/>
                <a:cs typeface="Inter"/>
              </a:defRPr>
            </a:pPr>
            <a:r>
              <a:rPr sz="3300" b="0">
                <a:solidFill>
                  <a:srgbClr val="FFFFFF"/>
                </a:solidFill>
                <a:latin typeface="Inter"/>
                <a:ea typeface="Inter"/>
                <a:cs typeface="Inter"/>
              </a:rPr>
              <a:t>A pilot with the Varmus lab</a:t>
            </a:r>
          </a:p>
        </p:txBody>
      </p:sp>
      <p:sp>
        <p:nvSpPr>
          <p:cNvPr id="3" name="text-2">
            <a:extLst xmlns:a="http://schemas.openxmlformats.org/drawingml/2006/main">
              <a:ext uri="{FF2B5EF4-FFF2-40B4-BE49-F238E27FC236}">
                <a16:creationId xmlns:a16="http://schemas.microsoft.com/office/drawing/2014/main" id="{95BEFD6B-CCBF-4BCE-A78E-427B7BC5715A}"/>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18</a:t>
            </a:r>
          </a:p>
        </p:txBody>
      </p:sp>
      <p:sp>
        <p:nvSpPr>
          <p:cNvPr id="4" name="text-3">
            <a:extLst xmlns:a="http://schemas.openxmlformats.org/drawingml/2006/main">
              <a:ext uri="{FF2B5EF4-FFF2-40B4-BE49-F238E27FC236}">
                <a16:creationId xmlns:a16="http://schemas.microsoft.com/office/drawing/2014/main" id="{1277639C-D42B-4A11-AEB6-E40D34DFE3A4}"/>
              </a:ext>
            </a:extLst>
          </p:cNvPr>
          <p:cNvSpPr>
            <a:spLocks xmlns:a="http://schemas.openxmlformats.org/drawingml/2006/main" noGrp="1"/>
          </p:cNvSpPr>
          <p:nvPr/>
        </p:nvSpPr>
        <p:spPr>
          <a:xfrm xmlns:a="http://schemas.openxmlformats.org/drawingml/2006/main">
            <a:off x="609600" y="2324100"/>
            <a:ext cx="109728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A reproducible starting point</a:t>
            </a:r>
          </a:p>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for the next screen</a:t>
            </a:r>
          </a:p>
        </p:txBody>
      </p:sp>
      <p:sp>
        <p:nvSpPr>
          <p:cNvPr id="5" name="text-4">
            <a:extLst xmlns:a="http://schemas.openxmlformats.org/drawingml/2006/main">
              <a:ext uri="{FF2B5EF4-FFF2-40B4-BE49-F238E27FC236}">
                <a16:creationId xmlns:a16="http://schemas.microsoft.com/office/drawing/2014/main" id="{1C2D2A36-0B88-419A-8037-79EC25B7F351}"/>
              </a:ext>
            </a:extLst>
          </p:cNvPr>
          <p:cNvSpPr>
            <a:spLocks xmlns:a="http://schemas.openxmlformats.org/drawingml/2006/main" noGrp="1"/>
          </p:cNvSpPr>
          <p:nvPr/>
        </p:nvSpPr>
        <p:spPr>
          <a:xfrm xmlns:a="http://schemas.openxmlformats.org/drawingml/2006/main">
            <a:off x="647700" y="428625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Agree on the reference analysis.</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Review differences together.</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Test candidate genes in the lab.</a:t>
            </a:r>
          </a:p>
        </p:txBody>
      </p:sp>
      <p:sp>
        <p:nvSpPr>
          <p:cNvPr id="6" name="text-5">
            <a:extLst xmlns:a="http://schemas.openxmlformats.org/drawingml/2006/main">
              <a:ext uri="{FF2B5EF4-FFF2-40B4-BE49-F238E27FC236}">
                <a16:creationId xmlns:a16="http://schemas.microsoft.com/office/drawing/2014/main" id="{91217ECD-1A6B-44F6-BBCE-67D64D9B3FB9}"/>
              </a:ext>
            </a:extLst>
          </p:cNvPr>
          <p:cNvSpPr>
            <a:spLocks xmlns:a="http://schemas.openxmlformats.org/drawingml/2006/main" noGrp="1"/>
          </p:cNvSpPr>
          <p:nvPr/>
        </p:nvSpPr>
        <p:spPr>
          <a:xfrm xmlns:a="http://schemas.openxmlformats.org/drawingml/2006/main">
            <a:off x="647700" y="59436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BE9ED"/>
                </a:solidFill>
                <a:latin typeface="Inter"/>
                <a:ea typeface="Inter"/>
                <a:cs typeface="Inter"/>
              </a:defRPr>
            </a:pPr>
            <a:r>
              <a:rPr sz="1650" b="0">
                <a:solidFill>
                  <a:srgbClr val="DBE9ED"/>
                </a:solidFill>
                <a:latin typeface="Inter"/>
                <a:ea typeface="Inter"/>
                <a:cs typeface="Inter"/>
              </a:rPr>
              <a:t>Sahaj Satani, Pranav Mettu, Ishaan Samantray</a:t>
            </a:r>
          </a:p>
        </p:txBody>
      </p:sp>
    </p:spTree>
    <p:extLst>
      <p:ext uri="{BB962C8B-B14F-4D97-AF65-F5344CB8AC3E}">
        <p14:creationId xmlns:p14="http://schemas.microsoft.com/office/powerpoint/2010/main" val="2002295394"/>
      </p:ext>
    </p:extLst>
  </p:cSld>
</p:sld>
</file>

<file path=ppt/slides/slide1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0d63934a7154fe3"/>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53053BFE-3610-44AA-9BDC-A179FAC2B7F3}"/>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Methods and scientific limits</a:t>
            </a:r>
          </a:p>
        </p:txBody>
      </p:sp>
      <p:sp>
        <p:nvSpPr>
          <p:cNvPr id="3" name="text-2">
            <a:extLst xmlns:a="http://schemas.openxmlformats.org/drawingml/2006/main">
              <a:ext uri="{FF2B5EF4-FFF2-40B4-BE49-F238E27FC236}">
                <a16:creationId xmlns:a16="http://schemas.microsoft.com/office/drawing/2014/main" id="{B5F67E43-5AF7-4FCC-A447-6F3F33F39B6E}"/>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scientific discussion</a:t>
            </a:r>
          </a:p>
        </p:txBody>
      </p:sp>
      <p:sp>
        <p:nvSpPr>
          <p:cNvPr id="4" name="text-3">
            <a:extLst xmlns:a="http://schemas.openxmlformats.org/drawingml/2006/main">
              <a:ext uri="{FF2B5EF4-FFF2-40B4-BE49-F238E27FC236}">
                <a16:creationId xmlns:a16="http://schemas.microsoft.com/office/drawing/2014/main" id="{3B2ED86C-6DBE-4F65-9747-0D8803CD956C}"/>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19</a:t>
            </a:r>
          </a:p>
        </p:txBody>
      </p:sp>
      <p:sp>
        <p:nvSpPr>
          <p:cNvPr id="5" name="text-4">
            <a:extLst xmlns:a="http://schemas.openxmlformats.org/drawingml/2006/main">
              <a:ext uri="{FF2B5EF4-FFF2-40B4-BE49-F238E27FC236}">
                <a16:creationId xmlns:a16="http://schemas.microsoft.com/office/drawing/2014/main" id="{63C26330-2C74-45CC-8FBF-DC7BB756C0E8}"/>
              </a:ext>
            </a:extLst>
          </p:cNvPr>
          <p:cNvSpPr>
            <a:spLocks xmlns:a="http://schemas.openxmlformats.org/drawingml/2006/main" noGrp="1"/>
          </p:cNvSpPr>
          <p:nvPr/>
        </p:nvSpPr>
        <p:spPr>
          <a:xfrm xmlns:a="http://schemas.openxmlformats.org/drawingml/2006/main">
            <a:off x="60960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Completed evidence</a:t>
            </a:r>
          </a:p>
        </p:txBody>
      </p:sp>
      <p:sp>
        <p:nvSpPr>
          <p:cNvPr id="6" name="text-5">
            <a:extLst xmlns:a="http://schemas.openxmlformats.org/drawingml/2006/main">
              <a:ext uri="{FF2B5EF4-FFF2-40B4-BE49-F238E27FC236}">
                <a16:creationId xmlns:a16="http://schemas.microsoft.com/office/drawing/2014/main" id="{EE6B9FE2-D7EC-46C8-BE22-4843466A906D}"/>
              </a:ext>
            </a:extLst>
          </p:cNvPr>
          <p:cNvSpPr>
            <a:spLocks xmlns:a="http://schemas.openxmlformats.org/drawingml/2006/main" noGrp="1"/>
          </p:cNvSpPr>
          <p:nvPr/>
        </p:nvSpPr>
        <p:spPr>
          <a:xfrm xmlns:a="http://schemas.openxmlformats.org/drawingml/2006/main">
            <a:off x="60960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Original counts and verified guide annotations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Six RRA + MLE reports with separate statistics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Independent RRA numerical reproduction</a:t>
            </a:r>
          </a:p>
        </p:txBody>
      </p:sp>
      <p:sp>
        <p:nvSpPr>
          <p:cNvPr id="7" name="text-6">
            <a:extLst xmlns:a="http://schemas.openxmlformats.org/drawingml/2006/main">
              <a:ext uri="{FF2B5EF4-FFF2-40B4-BE49-F238E27FC236}">
                <a16:creationId xmlns:a16="http://schemas.microsoft.com/office/drawing/2014/main" id="{87CEDFB3-C291-4DC0-8396-90E2F2B387FF}"/>
              </a:ext>
            </a:extLst>
          </p:cNvPr>
          <p:cNvSpPr>
            <a:spLocks xmlns:a="http://schemas.openxmlformats.org/drawingml/2006/main" noGrp="1"/>
          </p:cNvSpPr>
          <p:nvPr/>
        </p:nvSpPr>
        <p:spPr>
          <a:xfrm xmlns:a="http://schemas.openxmlformats.org/drawingml/2006/main">
            <a:off x="641985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Open scientific work</a:t>
            </a:r>
          </a:p>
        </p:txBody>
      </p:sp>
      <p:sp>
        <p:nvSpPr>
          <p:cNvPr id="8" name="text-7">
            <a:extLst xmlns:a="http://schemas.openxmlformats.org/drawingml/2006/main">
              <a:ext uri="{FF2B5EF4-FFF2-40B4-BE49-F238E27FC236}">
                <a16:creationId xmlns:a16="http://schemas.microsoft.com/office/drawing/2014/main" id="{A63A0A30-3D0E-4516-9CDE-4D9C5E9B0A43}"/>
              </a:ext>
            </a:extLst>
          </p:cNvPr>
          <p:cNvSpPr>
            <a:spLocks xmlns:a="http://schemas.openxmlformats.org/drawingml/2006/main" noGrp="1"/>
          </p:cNvSpPr>
          <p:nvPr/>
        </p:nvSpPr>
        <p:spPr>
          <a:xfrm xmlns:a="http://schemas.openxmlformats.org/drawingml/2006/main">
            <a:off x="641985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Reconcile MLE with the authors’ settings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Fit a formal culture interaction if required</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Validate candidates experimentally</a:t>
            </a:r>
          </a:p>
        </p:txBody>
      </p:sp>
      <p:sp>
        <p:nvSpPr>
          <p:cNvPr id="9" name="text-8">
            <a:extLst xmlns:a="http://schemas.openxmlformats.org/drawingml/2006/main">
              <a:ext uri="{FF2B5EF4-FFF2-40B4-BE49-F238E27FC236}">
                <a16:creationId xmlns:a16="http://schemas.microsoft.com/office/drawing/2014/main" id="{9235C77B-EFB5-48D8-9575-409584EBCE05}"/>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Validation probabilities remain unavailable without a fitted outcomes cohort.</a:t>
            </a:r>
          </a:p>
        </p:txBody>
      </p:sp>
    </p:spTree>
    <p:extLst>
      <p:ext uri="{BB962C8B-B14F-4D97-AF65-F5344CB8AC3E}">
        <p14:creationId xmlns:p14="http://schemas.microsoft.com/office/powerpoint/2010/main" val="1879077915"/>
      </p:ext>
    </p:extLst>
  </p:cSld>
</p:sld>
</file>

<file path=ppt/slides/slide2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8497db6ae964936"/>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5FC9FFC3-9B3C-4408-AB29-B8969CC6529E}"/>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Sources and demo files</a:t>
            </a:r>
          </a:p>
        </p:txBody>
      </p:sp>
      <p:sp>
        <p:nvSpPr>
          <p:cNvPr id="3" name="text-2">
            <a:extLst xmlns:a="http://schemas.openxmlformats.org/drawingml/2006/main">
              <a:ext uri="{FF2B5EF4-FFF2-40B4-BE49-F238E27FC236}">
                <a16:creationId xmlns:a16="http://schemas.microsoft.com/office/drawing/2014/main" id="{522BE424-AAC4-4B0B-9208-00F5BF34027F}"/>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follow-up</a:t>
            </a:r>
          </a:p>
        </p:txBody>
      </p:sp>
      <p:sp>
        <p:nvSpPr>
          <p:cNvPr id="4" name="text-3">
            <a:extLst xmlns:a="http://schemas.openxmlformats.org/drawingml/2006/main">
              <a:ext uri="{FF2B5EF4-FFF2-40B4-BE49-F238E27FC236}">
                <a16:creationId xmlns:a16="http://schemas.microsoft.com/office/drawing/2014/main" id="{A5BA93F4-6C5D-4CD0-856F-25C51C414428}"/>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20</a:t>
            </a:r>
          </a:p>
        </p:txBody>
      </p:sp>
      <p:sp>
        <p:nvSpPr>
          <p:cNvPr id="5" name="text-4">
            <a:extLst xmlns:a="http://schemas.openxmlformats.org/drawingml/2006/main">
              <a:ext uri="{FF2B5EF4-FFF2-40B4-BE49-F238E27FC236}">
                <a16:creationId xmlns:a16="http://schemas.microsoft.com/office/drawing/2014/main" id="{26E956B4-2300-443D-A8E6-E55EA1F847F2}"/>
              </a:ext>
            </a:extLst>
          </p:cNvPr>
          <p:cNvSpPr>
            <a:spLocks xmlns:a="http://schemas.openxmlformats.org/drawingml/2006/main" noGrp="1"/>
          </p:cNvSpPr>
          <p:nvPr/>
        </p:nvSpPr>
        <p:spPr>
          <a:xfrm xmlns:a="http://schemas.openxmlformats.org/drawingml/2006/main">
            <a:off x="609600" y="2390775"/>
            <a:ext cx="54292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Paper</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10.1073/pnas.2403685121</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CRISPR data</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10.7910/DVN/8DEPIT</a:t>
            </a:r>
          </a:p>
        </p:txBody>
      </p:sp>
      <p:sp>
        <p:nvSpPr>
          <p:cNvPr id="6" name="text-5">
            <a:extLst xmlns:a="http://schemas.openxmlformats.org/drawingml/2006/main">
              <a:ext uri="{FF2B5EF4-FFF2-40B4-BE49-F238E27FC236}">
                <a16:creationId xmlns:a16="http://schemas.microsoft.com/office/drawing/2014/main" id="{4572970B-764E-4D8C-80C8-DFA73A3E004C}"/>
              </a:ext>
            </a:extLst>
          </p:cNvPr>
          <p:cNvSpPr>
            <a:spLocks xmlns:a="http://schemas.openxmlformats.org/drawingml/2006/main" noGrp="1"/>
          </p:cNvSpPr>
          <p:nvPr/>
        </p:nvSpPr>
        <p:spPr>
          <a:xfrm xmlns:a="http://schemas.openxmlformats.org/drawingml/2006/main">
            <a:off x="6572250" y="2390775"/>
            <a:ext cx="50101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SplicR-Ferrarone-demo.zip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Two original count tables</a:t>
            </a:r>
          </a:p>
          <a:p xmlns:a="http://schemas.openxmlformats.org/drawingml/2006/main">
            <a:r>
              <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SplicR-Ferrarone-full-results.zip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Six complete RRA + MLE result packages</a:t>
            </a:r>
          </a:p>
        </p:txBody>
      </p:sp>
      <p:sp>
        <p:nvSpPr>
          <p:cNvPr id="7" name="text-6">
            <a:extLst xmlns:a="http://schemas.openxmlformats.org/drawingml/2006/main">
              <a:ext uri="{FF2B5EF4-FFF2-40B4-BE49-F238E27FC236}">
                <a16:creationId xmlns:a16="http://schemas.microsoft.com/office/drawing/2014/main" id="{005E4873-1F3D-4414-9EEB-15E75C5730BB}"/>
              </a:ext>
            </a:extLst>
          </p:cNvPr>
          <p:cNvSpPr>
            <a:spLocks xmlns:a="http://schemas.openxmlformats.org/drawingml/2006/main" noGrp="1"/>
          </p:cNvSpPr>
          <p:nvPr/>
        </p:nvSpPr>
        <p:spPr>
          <a:xfrm xmlns:a="http://schemas.openxmlformats.org/drawingml/2006/main">
            <a:off x="609600" y="52482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174F62"/>
                </a:solidFill>
                <a:latin typeface="Instrument Serif"/>
                <a:ea typeface="Instrument Serif"/>
                <a:cs typeface="Instrument Serif"/>
              </a:defRPr>
            </a:pPr>
            <a:r>
              <a:rPr sz="3450" b="0">
                <a:solidFill>
                  <a:srgbClr val="174F62"/>
                </a:solidFill>
                <a:latin typeface="Instrument Serif"/>
                <a:ea typeface="Instrument Serif"/>
                <a:cs typeface="Instrument Serif"/>
              </a:rPr>
              <a:t>splicr.org</a:t>
            </a:r>
          </a:p>
        </p:txBody>
      </p:sp>
      <p:sp>
        <p:nvSpPr>
          <p:cNvPr id="8" name="text-7">
            <a:extLst xmlns:a="http://schemas.openxmlformats.org/drawingml/2006/main">
              <a:ext uri="{FF2B5EF4-FFF2-40B4-BE49-F238E27FC236}">
                <a16:creationId xmlns:a16="http://schemas.microsoft.com/office/drawing/2014/main" id="{DA79F613-D86E-44A3-A627-9EE4EE95839C}"/>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Primary references and full provenance appear in the speaker notes and the accompanying guide.</a:t>
            </a:r>
          </a:p>
        </p:txBody>
      </p:sp>
    </p:spTree>
    <p:extLst>
      <p:ext uri="{BB962C8B-B14F-4D97-AF65-F5344CB8AC3E}">
        <p14:creationId xmlns:p14="http://schemas.microsoft.com/office/powerpoint/2010/main" val="12194525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2026-10-07T23:42:32.2160000Z</dcterms:created>
  <dcterms:modified xsi:type="dcterms:W3CDTF">2026-10-07T23:42:32.2160000Z</dcterms:modified>
</coreProperties>
</file>