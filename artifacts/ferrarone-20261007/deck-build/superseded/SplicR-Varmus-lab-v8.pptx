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7cf85e0de9f4959" /><Relationship Type="http://schemas.openxmlformats.org/officeDocument/2006/relationships/extended-properties" Target="/docProps/app.xml" Id="R7ae286c24fa44799" /><Relationship Type="http://schemas.openxmlformats.org/officeDocument/2006/relationships/officeDocument" Target="/ppt/presentation.xml" Id="Rc105adf38d124721" /></Relationships>
</file>

<file path=ppt/presentation.xml><?xml version="1.0" encoding="utf-8"?>
<p:presentation xmlns:p="http://schemas.openxmlformats.org/presentationml/2006/main">
  <p:sldMasterIdLst>
    <p:sldMasterId xmlns:r="http://schemas.openxmlformats.org/officeDocument/2006/relationships" id="2147483648" r:id="Rec602c8346fb4444"/>
  </p:sldMasterIdLst>
  <p:notesMasterIdLst>
    <p:notesMasterId xmlns:r="http://schemas.openxmlformats.org/officeDocument/2006/relationships" r:id="R5f8ea52b744b4010"/>
  </p:notesMasterIdLst>
  <p:sldIdLst>
    <p:sldId xmlns:r="http://schemas.openxmlformats.org/officeDocument/2006/relationships" id="256" r:id="Rc5dbd6d5e0804097"/>
    <p:sldId xmlns:r="http://schemas.openxmlformats.org/officeDocument/2006/relationships" id="257" r:id="R47f7a16c46e34d9f"/>
    <p:sldId xmlns:r="http://schemas.openxmlformats.org/officeDocument/2006/relationships" id="258" r:id="Rc844274359bf466e"/>
    <p:sldId xmlns:r="http://schemas.openxmlformats.org/officeDocument/2006/relationships" id="259" r:id="R86e100d2558f49ac"/>
    <p:sldId xmlns:r="http://schemas.openxmlformats.org/officeDocument/2006/relationships" id="260" r:id="R2c433b97e4e74f8e"/>
    <p:sldId xmlns:r="http://schemas.openxmlformats.org/officeDocument/2006/relationships" id="261" r:id="Rf0e97dad45714ddf"/>
    <p:sldId xmlns:r="http://schemas.openxmlformats.org/officeDocument/2006/relationships" id="262" r:id="R9a7b7293c4ad421d"/>
    <p:sldId xmlns:r="http://schemas.openxmlformats.org/officeDocument/2006/relationships" id="263" r:id="Rdd1dfea1b0d64c8f"/>
    <p:sldId xmlns:r="http://schemas.openxmlformats.org/officeDocument/2006/relationships" id="264" r:id="R531c64d1c57b4326"/>
    <p:sldId xmlns:r="http://schemas.openxmlformats.org/officeDocument/2006/relationships" id="265" r:id="R75eba489d30f442b"/>
    <p:sldId xmlns:r="http://schemas.openxmlformats.org/officeDocument/2006/relationships" id="266" r:id="R34c89ffc662944d1"/>
    <p:sldId xmlns:r="http://schemas.openxmlformats.org/officeDocument/2006/relationships" id="267" r:id="R805ec5c847cf4627"/>
    <p:sldId xmlns:r="http://schemas.openxmlformats.org/officeDocument/2006/relationships" id="268" r:id="Rc23180d06b3d4a58"/>
    <p:sldId xmlns:r="http://schemas.openxmlformats.org/officeDocument/2006/relationships" id="269" r:id="Rae8f046918404c04"/>
    <p:sldId xmlns:r="http://schemas.openxmlformats.org/officeDocument/2006/relationships" id="270" r:id="R2d9684edea0c4744"/>
    <p:sldId xmlns:r="http://schemas.openxmlformats.org/officeDocument/2006/relationships" id="271" r:id="R2dd7eb87a5a84ebb"/>
    <p:sldId xmlns:r="http://schemas.openxmlformats.org/officeDocument/2006/relationships" id="272" r:id="R20e0a1507b0b4b00"/>
    <p:sldId xmlns:r="http://schemas.openxmlformats.org/officeDocument/2006/relationships" id="273" r:id="R41c0e97ecd544ca4"/>
    <p:sldId xmlns:r="http://schemas.openxmlformats.org/officeDocument/2006/relationships" id="274" r:id="R22c08781f9124fb5"/>
    <p:sldId xmlns:r="http://schemas.openxmlformats.org/officeDocument/2006/relationships" id="275" r:id="Ra8d55525315c46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994b6e72e94618" /><Relationship Type="http://schemas.openxmlformats.org/officeDocument/2006/relationships/slideMaster" Target="/ppt/slideMasters/slideMaster1.xml" Id="Rec602c8346fb4444" /><Relationship Type="http://schemas.openxmlformats.org/officeDocument/2006/relationships/notesMaster" Target="/ppt/notesMasters/notesMaster1.xml" Id="R5f8ea52b744b4010" /><Relationship Type="http://schemas.openxmlformats.org/officeDocument/2006/relationships/presProps" Target="/ppt/presProps.xml" Id="Ra91c9ceb7bf54221" /><Relationship Type="http://schemas.openxmlformats.org/officeDocument/2006/relationships/tableStyles" Target="/ppt/tableStyles.xml" Id="R6c096b96f35d4543" /><Relationship Type="http://schemas.openxmlformats.org/officeDocument/2006/relationships/slide" Target="/ppt/slides/slide1.xml" Id="Rc5dbd6d5e0804097" /><Relationship Type="http://schemas.openxmlformats.org/officeDocument/2006/relationships/slide" Target="/ppt/slides/slide2.xml" Id="R47f7a16c46e34d9f" /><Relationship Type="http://schemas.openxmlformats.org/officeDocument/2006/relationships/slide" Target="/ppt/slides/slide3.xml" Id="Rc844274359bf466e" /><Relationship Type="http://schemas.openxmlformats.org/officeDocument/2006/relationships/slide" Target="/ppt/slides/slide4.xml" Id="R86e100d2558f49ac" /><Relationship Type="http://schemas.openxmlformats.org/officeDocument/2006/relationships/slide" Target="/ppt/slides/slide5.xml" Id="R2c433b97e4e74f8e" /><Relationship Type="http://schemas.openxmlformats.org/officeDocument/2006/relationships/slide" Target="/ppt/slides/slide6.xml" Id="Rf0e97dad45714ddf" /><Relationship Type="http://schemas.openxmlformats.org/officeDocument/2006/relationships/slide" Target="/ppt/slides/slide7.xml" Id="R9a7b7293c4ad421d" /><Relationship Type="http://schemas.openxmlformats.org/officeDocument/2006/relationships/slide" Target="/ppt/slides/slide8.xml" Id="Rdd1dfea1b0d64c8f" /><Relationship Type="http://schemas.openxmlformats.org/officeDocument/2006/relationships/slide" Target="/ppt/slides/slide9.xml" Id="R531c64d1c57b4326" /><Relationship Type="http://schemas.openxmlformats.org/officeDocument/2006/relationships/slide" Target="/ppt/slides/slide10.xml" Id="R75eba489d30f442b" /><Relationship Type="http://schemas.openxmlformats.org/officeDocument/2006/relationships/slide" Target="/ppt/slides/slide11.xml" Id="R34c89ffc662944d1" /><Relationship Type="http://schemas.openxmlformats.org/officeDocument/2006/relationships/slide" Target="/ppt/slides/slide12.xml" Id="R805ec5c847cf4627" /><Relationship Type="http://schemas.openxmlformats.org/officeDocument/2006/relationships/slide" Target="/ppt/slides/slide13.xml" Id="Rc23180d06b3d4a58" /><Relationship Type="http://schemas.openxmlformats.org/officeDocument/2006/relationships/slide" Target="/ppt/slides/slide14.xml" Id="Rae8f046918404c04" /><Relationship Type="http://schemas.openxmlformats.org/officeDocument/2006/relationships/slide" Target="/ppt/slides/slide15.xml" Id="R2d9684edea0c4744" /><Relationship Type="http://schemas.openxmlformats.org/officeDocument/2006/relationships/slide" Target="/ppt/slides/slide16.xml" Id="R2dd7eb87a5a84ebb" /><Relationship Type="http://schemas.openxmlformats.org/officeDocument/2006/relationships/slide" Target="/ppt/slides/slide17.xml" Id="R20e0a1507b0b4b00" /><Relationship Type="http://schemas.openxmlformats.org/officeDocument/2006/relationships/slide" Target="/ppt/slides/slide18.xml" Id="R41c0e97ecd544ca4" /><Relationship Type="http://schemas.openxmlformats.org/officeDocument/2006/relationships/slide" Target="/ppt/slides/slide19.xml" Id="R22c08781f9124fb5" /><Relationship Type="http://schemas.openxmlformats.org/officeDocument/2006/relationships/slide" Target="/ppt/slides/slide20.xml" Id="Ra8d55525315c46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1e2acc83a342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d2ccdbece944fc" /><Relationship Type="http://schemas.openxmlformats.org/officeDocument/2006/relationships/notesMaster" Target="/ppt/notesMasters/notesMaster1.xml" Id="R3c8b1d8e92ea4d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9790e29f64467b" /><Relationship Type="http://schemas.openxmlformats.org/officeDocument/2006/relationships/notesMaster" Target="/ppt/notesMasters/notesMaster1.xml" Id="Rd75682eb380142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daee98e3284abe" /><Relationship Type="http://schemas.openxmlformats.org/officeDocument/2006/relationships/notesMaster" Target="/ppt/notesMasters/notesMaster1.xml" Id="R30dcc14c4a214f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4bcdfa3aa1493d" /><Relationship Type="http://schemas.openxmlformats.org/officeDocument/2006/relationships/notesMaster" Target="/ppt/notesMasters/notesMaster1.xml" Id="Rdeba054705ea42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dae2a414584137" /><Relationship Type="http://schemas.openxmlformats.org/officeDocument/2006/relationships/notesMaster" Target="/ppt/notesMasters/notesMaster1.xml" Id="Rf8c629f628e843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b988613d104164" /><Relationship Type="http://schemas.openxmlformats.org/officeDocument/2006/relationships/notesMaster" Target="/ppt/notesMasters/notesMaster1.xml" Id="Ra4cfd211d42348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8bbfc4425e497d" /><Relationship Type="http://schemas.openxmlformats.org/officeDocument/2006/relationships/notesMaster" Target="/ppt/notesMasters/notesMaster1.xml" Id="R68832d9e232946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25dd952bed4f92" /><Relationship Type="http://schemas.openxmlformats.org/officeDocument/2006/relationships/notesMaster" Target="/ppt/notesMasters/notesMaster1.xml" Id="R99a88351fe174a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8bf37902a94dee" /><Relationship Type="http://schemas.openxmlformats.org/officeDocument/2006/relationships/notesMaster" Target="/ppt/notesMasters/notesMaster1.xml" Id="Rc85852bac73844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62b1f5d66c447c" /><Relationship Type="http://schemas.openxmlformats.org/officeDocument/2006/relationships/notesMaster" Target="/ppt/notesMasters/notesMaster1.xml" Id="R0ca21c1f6ade4a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cdb244278548d1" /><Relationship Type="http://schemas.openxmlformats.org/officeDocument/2006/relationships/notesMaster" Target="/ppt/notesMasters/notesMaster1.xml" Id="R8cedba30b2a84b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2575cb99bd4450" /><Relationship Type="http://schemas.openxmlformats.org/officeDocument/2006/relationships/notesMaster" Target="/ppt/notesMasters/notesMaster1.xml" Id="R3031bd083f6443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f8985a0f6234474" /><Relationship Type="http://schemas.openxmlformats.org/officeDocument/2006/relationships/notesMaster" Target="/ppt/notesMasters/notesMaster1.xml" Id="R0c1b4338b01b42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f60322f8b1474b" /><Relationship Type="http://schemas.openxmlformats.org/officeDocument/2006/relationships/notesMaster" Target="/ppt/notesMasters/notesMaster1.xml" Id="R036c344b568c45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a9b24ed87d41ae" /><Relationship Type="http://schemas.openxmlformats.org/officeDocument/2006/relationships/notesMaster" Target="/ppt/notesMasters/notesMaster1.xml" Id="R0dc3fabc26b343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9a119daf1a46cf" /><Relationship Type="http://schemas.openxmlformats.org/officeDocument/2006/relationships/notesMaster" Target="/ppt/notesMasters/notesMaster1.xml" Id="R62f6a747a10244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3f97fba4d14d99" /><Relationship Type="http://schemas.openxmlformats.org/officeDocument/2006/relationships/notesMaster" Target="/ppt/notesMasters/notesMaster1.xml" Id="Rebbef5e75deb48b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bcf4bd133446c7" /><Relationship Type="http://schemas.openxmlformats.org/officeDocument/2006/relationships/notesMaster" Target="/ppt/notesMasters/notesMaster1.xml" Id="R13536ecb9b2445e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18c3c748e524689" /><Relationship Type="http://schemas.openxmlformats.org/officeDocument/2006/relationships/notesMaster" Target="/ppt/notesMasters/notesMaster1.xml" Id="R0d083b35dd0348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a55f4180ab4cfa" /><Relationship Type="http://schemas.openxmlformats.org/officeDocument/2006/relationships/notesMaster" Target="/ppt/notesMasters/notesMaster1.xml" Id="R878c3ab2d0c845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Renaming the same bytes preserves identity; modified bytes do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All six full RRA+MLE runs subsequently completed and their complete exports were verified.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of an existing full-genome MLE analysis. The progress bar records completed stages, not percentage of compute time or a promised finish time. This screenshot was captured during hit calling; all six full MLE runs have since completed. Some other existing MLE runs encountered count-write database timeouts and retried. Retry startup now resets stale stage records, and bulk writes use bounded COPY batches with a transaction-local timeout. Full MLE computation is complete; reconciliation with the authors’ settings and nomination criteria remains open. Frontend realtime events and a five-second polling fallback read Supabase run and stage records. Cloudflare R2 stores input objects, Supabase stores metadata and results, and Modal executes analysis. The screenshot is a dated snapshot. No new analysis job was submitted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full RRA+MLE report for spheroid WT versus plasmid. The primary candidate count uses RRA, with MLE statistics retained separately.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full RRA+MLE run, spheroid WT versus plasmid: FIG4 RRA log2 fold change 3.1413, MLE beta 1.8331 and MLE FDR 0.57554; VAC14 LFC 4.9627, beta 3.211 and FDR 0.19162; PIKFYVE LFC 0.40606, beta 0.43846 and FDR 0.99966. Values rounded only for display. None passes the declared RRA or MLE FDR threshold 0.05 here. Spheroid EV-versus-plasmid MLE beta values are FIG4 1.1152, VAC14 -0.031009 and PIKFYVE 0.37959. VAC14 meets both published WT-enriched/EV-low beta thresholds, but FIG4 does not meet their EV-low cutoff in this separately fitted design. The paper’s methods use WT beta &gt;0.5 / EV &lt;0.5 for pathway analysis; its Figure 3 caption uses &gt;1 / &lt;1. That discrepancy, original normalization, guide filtering and joint design need investigator clarification. The authors used MLE beta nomination and wet-lab follow-up; beta criteria and FDR calls are different evidence criteria. PIKFYVE guides were not enriched in WT spheroids in the paper, and pharmacological/rescue experiments established its role. These results do not establish exact reproduction or superior biology. Sources: full reference-gene-statistics.csv and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The full run includes complete separate RRA and MLE statistics for every scored gene. Older RRA-only exports keep unavailable MLE fields blank, not zero. JSON exposes sample_data=false, workspace source, untruncated rows, settings and stages. The downloadable full-results bundle includes six RRA+MLE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The initial full MLE cohort subsequently completed in 18,316.696 elapsed seconds (5 hours 5 minutes), including retries and its original worker allocation. This is a separate method/runtime, not the six-minute RRA result. It excludes upload and pre-start waiting.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f865fffb4040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60766eb0fc488d" /><Relationship Type="http://schemas.openxmlformats.org/officeDocument/2006/relationships/slideLayout" Target="/ppt/slideLayouts/slideLayout1.xml" Id="R11682512dfe74e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682512dfe74e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2bdb2454fe4ae6" /><Relationship Type="http://schemas.openxmlformats.org/officeDocument/2006/relationships/image" Target="/ppt/media/image.png" Id="Rc62bf3167a39445d" /><Relationship Type="http://schemas.openxmlformats.org/officeDocument/2006/relationships/notesSlide" Target="/ppt/notesSlides/notesSlide1.xml" Id="R4cb4bf19641e49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9a529638094806" /><Relationship Type="http://schemas.openxmlformats.org/officeDocument/2006/relationships/image" Target="/ppt/media/image2.png" Id="R2b95776761e54a67" /><Relationship Type="http://schemas.openxmlformats.org/officeDocument/2006/relationships/image" Target="/ppt/media/image.jpeg" Id="R696eea5095704c40" /><Relationship Type="http://schemas.openxmlformats.org/officeDocument/2006/relationships/notesSlide" Target="/ppt/notesSlides/notesSlide2.xml" Id="Rd1a95d2fbed64b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be523c2b1d4053" /><Relationship Type="http://schemas.openxmlformats.org/officeDocument/2006/relationships/image" Target="/ppt/media/image3.png" Id="R603d7288c9bb4f0a" /><Relationship Type="http://schemas.openxmlformats.org/officeDocument/2006/relationships/notesSlide" Target="/ppt/notesSlides/notesSlide3.xml" Id="R078ed7f0d0794c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44b32469e548db" /><Relationship Type="http://schemas.openxmlformats.org/officeDocument/2006/relationships/image" Target="/ppt/media/image4.png" Id="R2b6ce7e6bcdd4e95" /><Relationship Type="http://schemas.openxmlformats.org/officeDocument/2006/relationships/notesSlide" Target="/ppt/notesSlides/notesSlide4.xml" Id="Ra42b537faa0043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49f7582e0f4981" /><Relationship Type="http://schemas.openxmlformats.org/officeDocument/2006/relationships/image" Target="/ppt/media/image5.png" Id="Rc8ad84837dc44728" /><Relationship Type="http://schemas.openxmlformats.org/officeDocument/2006/relationships/image" Target="/ppt/media/image6.png" Id="Rb291dc6c297c43cc" /><Relationship Type="http://schemas.openxmlformats.org/officeDocument/2006/relationships/notesSlide" Target="/ppt/notesSlides/notesSlide5.xml" Id="R36970531bd9f48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094b57b53e406f" /><Relationship Type="http://schemas.openxmlformats.org/officeDocument/2006/relationships/image" Target="/ppt/media/image7.png" Id="R797b64844d4b41a8" /><Relationship Type="http://schemas.openxmlformats.org/officeDocument/2006/relationships/image" Target="/ppt/media/image8.png" Id="R94afcb767fa8440c" /><Relationship Type="http://schemas.openxmlformats.org/officeDocument/2006/relationships/notesSlide" Target="/ppt/notesSlides/notesSlide6.xml" Id="R5493f61322404e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bc1c3ae45b4ab1" /><Relationship Type="http://schemas.openxmlformats.org/officeDocument/2006/relationships/image" Target="/ppt/media/image9.png" Id="R9cfa0829eebc4135" /><Relationship Type="http://schemas.openxmlformats.org/officeDocument/2006/relationships/image" Target="/ppt/media/image10.png" Id="Rab595d1af32c4d04" /><Relationship Type="http://schemas.openxmlformats.org/officeDocument/2006/relationships/notesSlide" Target="/ppt/notesSlides/notesSlide7.xml" Id="R4ccff1f59b934e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1467d05e0e844b7" /><Relationship Type="http://schemas.openxmlformats.org/officeDocument/2006/relationships/image" Target="/ppt/media/image11.png" Id="R1b9e9083799f4c1a" /><Relationship Type="http://schemas.openxmlformats.org/officeDocument/2006/relationships/image" Target="/ppt/media/image12.png" Id="Rd2bf6877bf3a43df" /><Relationship Type="http://schemas.openxmlformats.org/officeDocument/2006/relationships/notesSlide" Target="/ppt/notesSlides/notesSlide8.xml" Id="R60e8c05d9da244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19ca82519c34477" /><Relationship Type="http://schemas.openxmlformats.org/officeDocument/2006/relationships/image" Target="/ppt/media/image13.png" Id="R2f775b29cdbf4bf8" /><Relationship Type="http://schemas.openxmlformats.org/officeDocument/2006/relationships/image" Target="/ppt/media/image14.png" Id="R9f102d125219466f" /><Relationship Type="http://schemas.openxmlformats.org/officeDocument/2006/relationships/notesSlide" Target="/ppt/notesSlides/notesSlide9.xml" Id="R4ff0adf199f240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82aa1f529964264" /><Relationship Type="http://schemas.openxmlformats.org/officeDocument/2006/relationships/image" Target="/ppt/media/image15.png" Id="Rf86c7964e6294772" /><Relationship Type="http://schemas.openxmlformats.org/officeDocument/2006/relationships/image" Target="/ppt/media/image16.png" Id="R5af4d629f8164078" /><Relationship Type="http://schemas.openxmlformats.org/officeDocument/2006/relationships/notesSlide" Target="/ppt/notesSlides/notesSlide10.xml" Id="R850550c386bc43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8d0c182b85945ef" /><Relationship Type="http://schemas.openxmlformats.org/officeDocument/2006/relationships/image" Target="/ppt/media/image17.png" Id="R18b2d909ab0f4dd2" /><Relationship Type="http://schemas.openxmlformats.org/officeDocument/2006/relationships/chart" Target="/ppt/slides/charts/chart1.xml" Id="R88a8826148ac43b3" /><Relationship Type="http://schemas.openxmlformats.org/officeDocument/2006/relationships/notesSlide" Target="/ppt/notesSlides/notesSlide11.xml" Id="R8e1310e10b494a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d3b6c283f094597" /><Relationship Type="http://schemas.openxmlformats.org/officeDocument/2006/relationships/image" Target="/ppt/media/image18.png" Id="R56927235bf5242c1" /><Relationship Type="http://schemas.openxmlformats.org/officeDocument/2006/relationships/notesSlide" Target="/ppt/notesSlides/notesSlide12.xml" Id="R10ad878f0e3c40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61e5c1e33b2489a" /><Relationship Type="http://schemas.openxmlformats.org/officeDocument/2006/relationships/image" Target="/ppt/media/image19.png" Id="Rb3962b45c8ec48de" /><Relationship Type="http://schemas.openxmlformats.org/officeDocument/2006/relationships/image" Target="/ppt/media/image20.png" Id="Ra79be4126e574471" /><Relationship Type="http://schemas.openxmlformats.org/officeDocument/2006/relationships/notesSlide" Target="/ppt/notesSlides/notesSlide13.xml" Id="R9079369c8efa45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9f1c5a8350b46ce" /><Relationship Type="http://schemas.openxmlformats.org/officeDocument/2006/relationships/image" Target="/ppt/media/image21.png" Id="R726940449f0c4429" /><Relationship Type="http://schemas.openxmlformats.org/officeDocument/2006/relationships/notesSlide" Target="/ppt/notesSlides/notesSlide14.xml" Id="R12c6a8105b9140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cde6cbdf20b45de" /><Relationship Type="http://schemas.openxmlformats.org/officeDocument/2006/relationships/image" Target="/ppt/media/image22.png" Id="Rc8438b25be4946e0" /><Relationship Type="http://schemas.openxmlformats.org/officeDocument/2006/relationships/notesSlide" Target="/ppt/notesSlides/notesSlide15.xml" Id="R546e49ed2a7646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5c0c6babd2a4488" /><Relationship Type="http://schemas.openxmlformats.org/officeDocument/2006/relationships/image" Target="/ppt/media/image23.png" Id="Rdb0780875a9f4f24" /><Relationship Type="http://schemas.openxmlformats.org/officeDocument/2006/relationships/notesSlide" Target="/ppt/notesSlides/notesSlide16.xml" Id="R3bb52b4dd7b745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afa7db6aa24e04" /><Relationship Type="http://schemas.openxmlformats.org/officeDocument/2006/relationships/image" Target="/ppt/media/image24.png" Id="Re95e3ce870a64bce" /><Relationship Type="http://schemas.openxmlformats.org/officeDocument/2006/relationships/image" Target="/ppt/media/image25.png" Id="R9b01f820004d4810" /><Relationship Type="http://schemas.openxmlformats.org/officeDocument/2006/relationships/notesSlide" Target="/ppt/notesSlides/notesSlide17.xml" Id="R51b5790e9f574f0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28a5877a3d24269" /><Relationship Type="http://schemas.openxmlformats.org/officeDocument/2006/relationships/image" Target="/ppt/media/image26.png" Id="R4d78e81ddeba45a8" /><Relationship Type="http://schemas.openxmlformats.org/officeDocument/2006/relationships/notesSlide" Target="/ppt/notesSlides/notesSlide18.xml" Id="R485abd9b501a49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e5f02acd67e4253" /><Relationship Type="http://schemas.openxmlformats.org/officeDocument/2006/relationships/image" Target="/ppt/media/image27.png" Id="R67c0cc5dc81b4f1c" /><Relationship Type="http://schemas.openxmlformats.org/officeDocument/2006/relationships/notesSlide" Target="/ppt/notesSlides/notesSlide19.xml" Id="R65473d917ab04e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6ecf1a8514e4378" /><Relationship Type="http://schemas.openxmlformats.org/officeDocument/2006/relationships/image" Target="/ppt/media/image28.png" Id="R9f19f7c1e71349c5" /><Relationship Type="http://schemas.openxmlformats.org/officeDocument/2006/relationships/notesSlide" Target="/ppt/notesSlides/notesSlide20.xml" Id="R8dd45218fb8641f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E1FF302-0DEC-4F14-A35E-42F5204B003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62bf3167a39445d"/>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8132EB11-E155-4ADE-B711-E7177343F5C3}"/>
              </a:ext>
            </a:extLst>
          </p:cNvPr>
          <p:cNvSpPr>
            <a:spLocks xmlns:a="http://schemas.openxmlformats.org/drawingml/2006/main" noGrp="1"/>
          </p:cNvSpPr>
          <p:nvPr/>
        </p:nvSpPr>
        <p:spPr>
          <a:xfrm xmlns:a="http://schemas.openxmlformats.org/drawingml/2006/main">
            <a:off x="609600" y="2143125"/>
            <a:ext cx="952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57C0E16A-693F-477C-A06D-C7623099336A}"/>
              </a:ext>
            </a:extLst>
          </p:cNvPr>
          <p:cNvSpPr>
            <a:spLocks xmlns:a="http://schemas.openxmlformats.org/drawingml/2006/main" noGrp="1"/>
          </p:cNvSpPr>
          <p:nvPr/>
        </p:nvSpPr>
        <p:spPr>
          <a:xfrm xmlns:a="http://schemas.openxmlformats.org/drawingml/2006/main">
            <a:off x="647700" y="43338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86DD5ABB-D49F-4883-ADB1-74C76B6CEBBC}"/>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771488800"/>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b95776761e54a6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E7ABE5A-F895-4515-A77F-A3F537E41BA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0671F168-F744-4FC9-870A-1E6955E0AF6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C596B39C-FDB8-4CCA-B389-12C70F42473F}"/>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D68F09D3-947D-4296-AAEA-73C981819F52}"/>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C8A20637-B506-4539-8E1F-2F5555D79805}"/>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96eea5095704c40"/>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2EB8036A-BBB4-4B63-90D4-794E2C38A13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867361409"/>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03d7288c9bb4f0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BCAFEF8-26C1-428F-9125-59571C7EBD5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19753FA4-7316-459C-857A-63C81768726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2C73CD0C-D311-4DB6-9626-15003C8AE6C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E7C630B1-5FA8-4785-998E-22997D4C830A}"/>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4C971BDF-8130-4133-AFA5-A8109C550E39}"/>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677128043"/>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b6ce7e6bcdd4e9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C6F6B00-2585-43D8-BEA3-BE1701405C5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2DA67345-FE93-4F47-BCFD-C427BF39B57A}"/>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C27D582A-6438-462A-A990-866B42C7F267}"/>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F093AF5D-1D37-48A5-9B07-6D00E99ED5D6}"/>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03AC017B-CA2B-4B94-A5F1-849AB4FB2E3F}"/>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B62CECBD-4978-400C-9FA7-100CBC6F4DA5}"/>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587EF14C-69C7-46E4-8F27-0180E71E08A3}"/>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372A9C74-AD23-4DD4-A72E-F4597134429C}"/>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91BC0BC5-C596-4727-818D-590922FB96A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124378168"/>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8ad84837dc4472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BB5B0DE-249A-4DF9-8139-362CEB05D72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6E1DD53A-680F-4E31-89FA-5F70074DD26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DA9318F3-BCDC-462D-A11B-AB6317AF80AA}"/>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291dc6c297c43cc"/>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738346502"/>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97b64844d4b41a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286EF06-9F04-4CF8-B42B-5905EAC9A949}"/>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DF854260-B74D-4FE8-8695-5A58E47EC0D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D5B824ED-2B21-4177-ADF8-C8E94D684B6B}"/>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4afcb767fa8440c"/>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1308629450"/>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cfa0829eebc413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FA14BDC-A304-4269-810B-CCD6D8EEC01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72216F87-386C-4F56-AAB4-FCCC6CE6AF1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80E77E99-0D87-4A89-BDA4-61DBA98C2FD1}"/>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b595d1af32c4d04"/>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297895655"/>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b9e9083799f4c1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0034F38-3836-4FC0-8BEA-78D7A06269D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BAC9FB74-5781-4FEE-976F-B16966034BE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D5612C7A-3F84-4B5C-BDFB-EB3588EE9AE5}"/>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2bf6877bf3a43df"/>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395026969"/>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f775b29cdbf4bf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E93CE65-6117-41C5-83C0-FDF4DD8245F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6ADD4F66-45AF-47BE-8726-643B68B31C8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7EB8DC9B-A118-403F-A1E7-8EAEE0DD79B9}"/>
              </a:ext>
            </a:extLst>
          </p:cNvPr>
          <p:cNvSpPr>
            <a:spLocks xmlns:a="http://schemas.openxmlformats.org/drawingml/2006/main" noGrp="1"/>
          </p:cNvSpPr>
          <p:nvPr/>
        </p:nvSpPr>
        <p:spPr>
          <a:xfrm xmlns:a="http://schemas.openxmlformats.org/drawingml/2006/main">
            <a:off x="609600" y="2238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Stages and elapsed time remain visible during processing.</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f102d125219466f"/>
          <a:stretch xmlns:a="http://schemas.openxmlformats.org/drawingml/2006/main"/>
        </p:blipFill>
        <p:spPr>
          <a:xfrm xmlns:a="http://schemas.openxmlformats.org/drawingml/2006/main">
            <a:off x="609600" y="3240376"/>
            <a:ext cx="10972800" cy="21107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F747600B-2F1D-4916-B43C-DA1ADD3CCCCA}"/>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Captured during MLE fitting. All six full RRA + MLE analyses are now complete.</a:t>
            </a:r>
          </a:p>
        </p:txBody>
      </p:sp>
    </p:spTree>
    <p:extLst>
      <p:ext uri="{BB962C8B-B14F-4D97-AF65-F5344CB8AC3E}">
        <p14:creationId xmlns:p14="http://schemas.microsoft.com/office/powerpoint/2010/main" val="395392170"/>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86c7964e629477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8A5B97A-05BC-47A8-AA65-85315DF8665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38D5D383-0BDA-4348-BAB3-7FECA54721C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completed RRA + MLE run</a:t>
            </a:r>
          </a:p>
        </p:txBody>
      </p:sp>
      <p:sp>
        <p:nvSpPr>
          <p:cNvPr id="4" name="text-3">
            <a:extLst xmlns:a="http://schemas.openxmlformats.org/drawingml/2006/main">
              <a:ext uri="{FF2B5EF4-FFF2-40B4-BE49-F238E27FC236}">
                <a16:creationId xmlns:a16="http://schemas.microsoft.com/office/drawing/2014/main" id="{3E2A40B9-1E85-414A-A084-7BDD85B3863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af4d629f8164078"/>
          <a:stretch xmlns:a="http://schemas.openxmlformats.org/drawingml/2006/main"/>
        </p:blipFill>
        <p:spPr>
          <a:xfrm xmlns:a="http://schemas.openxmlformats.org/drawingml/2006/main">
            <a:off x="609600" y="2235239"/>
            <a:ext cx="10972800" cy="31780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8F01A9A3-2012-400F-A3EF-E0603EB2D0A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638895300"/>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8b2d909ab0f4dd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12DCD47-0577-4FFE-BBA9-AD86743CE0A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AD75A61F-CA3D-4C2B-8914-382D0141D35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E6CACF05-D0E2-4E5E-8E0F-552E09CDBB2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88a8826148ac43b3"/>
          </a:graphicData>
        </a:graphic>
      </p:graphicFrame>
      <p:sp>
        <p:nvSpPr>
          <p:cNvPr id="6" name="text-5">
            <a:extLst xmlns:a="http://schemas.openxmlformats.org/drawingml/2006/main">
              <a:ext uri="{FF2B5EF4-FFF2-40B4-BE49-F238E27FC236}">
                <a16:creationId xmlns:a16="http://schemas.microsoft.com/office/drawing/2014/main" id="{B262DBF8-9BC0-4407-84D5-7ACFA2408190}"/>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958052368"/>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6927235bf5242c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E803239-38E7-4B4E-947A-F4412998875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across both methods</a:t>
            </a:r>
          </a:p>
        </p:txBody>
      </p:sp>
      <p:sp>
        <p:nvSpPr>
          <p:cNvPr id="3" name="text-2">
            <a:extLst xmlns:a="http://schemas.openxmlformats.org/drawingml/2006/main">
              <a:ext uri="{FF2B5EF4-FFF2-40B4-BE49-F238E27FC236}">
                <a16:creationId xmlns:a16="http://schemas.microsoft.com/office/drawing/2014/main" id="{C4C6DA67-774A-4CD2-9132-6D4606329BC1}"/>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 recorded output</a:t>
            </a:r>
          </a:p>
        </p:txBody>
      </p:sp>
      <p:sp>
        <p:nvSpPr>
          <p:cNvPr id="4" name="text-3">
            <a:extLst xmlns:a="http://schemas.openxmlformats.org/drawingml/2006/main">
              <a:ext uri="{FF2B5EF4-FFF2-40B4-BE49-F238E27FC236}">
                <a16:creationId xmlns:a16="http://schemas.microsoft.com/office/drawing/2014/main" id="{1230E187-4B91-46DE-976D-59813E78FB3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190750"/>
                <a:gridCol w="3162300"/>
                <a:gridCol w="2667000"/>
                <a:gridCol w="29527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RRA log₂ change</a:t>
                      </a:r>
                    </a:p>
                  </a:txBody>
                  <a:tcPr marL="91440" marR="91440" marT="45720" marB="45720">
                    <a:solidFill>
                      <a:srgbClr val="24334B"/>
                    </a:solidFill>
                  </a:tcPr>
                </a:tc>
                <a:tc>
                  <a:txBody>
                    <a:bodyPr/>
                    <a:lstStyle/>
                    <a:p>
                      <a:r>
                        <a:rPr sz="2025" b="1">
                          <a:solidFill>
                            <a:srgbClr val="FFFFFF"/>
                          </a:solidFill>
                          <a:latin typeface="Inter"/>
                          <a:ea typeface="Inter"/>
                          <a:cs typeface="Inter"/>
                        </a:rPr>
                        <a:t>MLE beta</a:t>
                      </a:r>
                    </a:p>
                  </a:txBody>
                  <a:tcPr marL="91440" marR="91440" marT="45720" marB="45720">
                    <a:solidFill>
                      <a:srgbClr val="24334B"/>
                    </a:solidFill>
                  </a:tcPr>
                </a:tc>
                <a:tc>
                  <a:txBody>
                    <a:bodyPr/>
                    <a:lstStyle/>
                    <a:p>
                      <a:r>
                        <a:rPr sz="2025" b="1">
                          <a:solidFill>
                            <a:srgbClr val="FFFFFF"/>
                          </a:solidFill>
                          <a:latin typeface="Inter"/>
                          <a:ea typeface="Inter"/>
                          <a:cs typeface="Inter"/>
                        </a:rPr>
                        <a:t>MLE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+1.83</a:t>
                      </a:r>
                    </a:p>
                  </a:txBody>
                  <a:tcPr marL="91440" marR="91440" marT="45720" marB="45720">
                    <a:solidFill>
                      <a:srgbClr val="FFFFFF"/>
                    </a:solidFill>
                  </a:tcPr>
                </a:tc>
                <a:tc>
                  <a:txBody>
                    <a:bodyPr/>
                    <a:lstStyle/>
                    <a:p>
                      <a:r>
                        <a:rPr sz="2025" b="0">
                          <a:solidFill>
                            <a:srgbClr val="4F6470"/>
                          </a:solidFill>
                          <a:latin typeface="Inter"/>
                          <a:ea typeface="Inter"/>
                          <a:cs typeface="Inter"/>
                        </a:rPr>
                        <a:t>0.576</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+3.21</a:t>
                      </a:r>
                    </a:p>
                  </a:txBody>
                  <a:tcPr marL="91440" marR="91440" marT="45720" marB="45720">
                    <a:solidFill>
                      <a:srgbClr val="FFFFFF"/>
                    </a:solidFill>
                  </a:tcPr>
                </a:tc>
                <a:tc>
                  <a:txBody>
                    <a:bodyPr/>
                    <a:lstStyle/>
                    <a:p>
                      <a:r>
                        <a:rPr sz="2025" b="0">
                          <a:solidFill>
                            <a:srgbClr val="4F6470"/>
                          </a:solidFill>
                          <a:latin typeface="Inter"/>
                          <a:ea typeface="Inter"/>
                          <a:cs typeface="Inter"/>
                        </a:rPr>
                        <a:t>0.192</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+0.44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118245FF-8158-48FD-8AF1-38F09E8BC3C1}"/>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effects and significance are different questions</a:t>
            </a:r>
          </a:p>
        </p:txBody>
      </p:sp>
      <p:sp>
        <p:nvSpPr>
          <p:cNvPr id="7" name="text-6">
            <a:extLst xmlns:a="http://schemas.openxmlformats.org/drawingml/2006/main">
              <a:ext uri="{FF2B5EF4-FFF2-40B4-BE49-F238E27FC236}">
                <a16:creationId xmlns:a16="http://schemas.microsoft.com/office/drawing/2014/main" id="{FDCFA01A-16CD-4425-9326-006131E4D45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Paper beta-score nomination and our declared FDR threshold are different criteria.</a:t>
            </a:r>
          </a:p>
        </p:txBody>
      </p:sp>
    </p:spTree>
    <p:extLst>
      <p:ext uri="{BB962C8B-B14F-4D97-AF65-F5344CB8AC3E}">
        <p14:creationId xmlns:p14="http://schemas.microsoft.com/office/powerpoint/2010/main" val="1588198786"/>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3962b45c8ec48d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A81067A-F8C6-4B9D-9905-B064B0F3006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3FAD9EFC-F01D-4DDA-A195-AA5EC8B9A13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100587EE-8A72-461B-8FB7-606E4A3BEB5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79be4126e574471"/>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809D4CF0-125A-47E8-92BA-CFE123C3278B}"/>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C44CFA96-FA1F-4639-90BB-2F34CB2C0369}"/>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 MLE runs.</a:t>
            </a:r>
          </a:p>
        </p:txBody>
      </p:sp>
    </p:spTree>
    <p:extLst>
      <p:ext uri="{BB962C8B-B14F-4D97-AF65-F5344CB8AC3E}">
        <p14:creationId xmlns:p14="http://schemas.microsoft.com/office/powerpoint/2010/main" val="679215263"/>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26940449f0c442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0227A19-695B-44C7-A187-BBBABFFCA4D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82E18D82-0250-4DF5-A552-9F68BEC9D99B}"/>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44BB1075-36B1-41D1-82A9-522C625E993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AAF4D847-10C2-436C-82CD-C363C3088168}"/>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88627FC3-C7D2-4644-8353-0281DA192735}"/>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8C66A8AF-36BF-48EB-B440-F13A7B57B563}"/>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7678D830-888F-464B-8A95-A96EF7ECE2BB}"/>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CC668369-3AF1-4B1D-BEF8-5B6FD254FCCD}"/>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timing shown. Initial full MLE cohort: 5 h 5 min, including retries. Upload time excluded.</a:t>
            </a:r>
          </a:p>
        </p:txBody>
      </p:sp>
    </p:spTree>
    <p:extLst>
      <p:ext uri="{BB962C8B-B14F-4D97-AF65-F5344CB8AC3E}">
        <p14:creationId xmlns:p14="http://schemas.microsoft.com/office/powerpoint/2010/main" val="1247338872"/>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8438b25be4946e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2FD4D93-D3DA-4A23-BED1-3CA638119BF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BD651AD2-C339-4BB8-84F1-0CA3014504B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F19555CF-F60E-4565-AAF6-846A4001E95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FE300796-F032-4D82-972A-2D4E3EC14F4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716293264"/>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b0780875a9f4f2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F57804A-525C-4E36-9360-452FF4F7300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CA211529-FD0A-47FF-AD44-BCCB49FB850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95180F61-BFDF-495F-A33C-2C38C6F194C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69E26081-EE47-4FCC-98B0-3D1ABCDB3DA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1048364349"/>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95e3ce870a64bc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831CECE-8786-412A-811C-6CA3B5D6762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7CDA66A0-2FE6-4F6A-A689-BCA55BFB12D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F1AE34EA-B232-40E4-B3F1-FD8D61ECC36B}"/>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b01f820004d4810"/>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682723759"/>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d78e81ddeba45a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75210F9-863E-493C-98D1-8789DD291E3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9F728C50-2880-4A54-85AB-215B5B46BD8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0AE0C392-791B-440A-908D-F2252C27FDB0}"/>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5C76EA9A-E81D-41CF-A1C8-177DC3E2AD43}"/>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CAC6368A-AAB0-46EC-85AE-BDA31CF6002B}"/>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1267232697"/>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7c0cc5dc81b4f1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2FB080E-96B0-41CC-96CC-0AB9FA504108}"/>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686198F0-3689-40E3-9B48-8614CB2E83F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B6F3E96C-8EFA-4260-AB19-A373B82A774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A6C1417F-28F3-4389-A7E7-EEEFCCD39E65}"/>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059B2E6B-E867-4B81-9086-BB14E5A0CE42}"/>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 MLE reports with separate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RRA numerical reproduction</a:t>
            </a:r>
          </a:p>
        </p:txBody>
      </p:sp>
      <p:sp>
        <p:nvSpPr>
          <p:cNvPr id="7" name="text-6">
            <a:extLst xmlns:a="http://schemas.openxmlformats.org/drawingml/2006/main">
              <a:ext uri="{FF2B5EF4-FFF2-40B4-BE49-F238E27FC236}">
                <a16:creationId xmlns:a16="http://schemas.microsoft.com/office/drawing/2014/main" id="{35EA9D3F-FFC6-4245-8ED1-EBC5A204F431}"/>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552F871D-4D4F-430A-B4BF-C3D5FBF597AD}"/>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C2006140-6D0D-44AD-8553-BFAB680E161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1631583747"/>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f19f7c1e71349c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CB68687-D8FF-4A80-8C47-7F652DE9FD3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DCC6512A-EECF-4809-9E52-492AA7B8D02B}"/>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E1D62255-5370-4AFE-AD63-33E2972ADD2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A7F74A4B-B554-496C-B877-CFE9B88C41B0}"/>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A6777075-7D7E-4FD5-A318-97A6AC062C52}"/>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SplicR-Ferrarone-full-results.zip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 MLE result packages</a:t>
            </a:r>
          </a:p>
        </p:txBody>
      </p:sp>
      <p:sp>
        <p:nvSpPr>
          <p:cNvPr id="7" name="text-6">
            <a:extLst xmlns:a="http://schemas.openxmlformats.org/drawingml/2006/main">
              <a:ext uri="{FF2B5EF4-FFF2-40B4-BE49-F238E27FC236}">
                <a16:creationId xmlns:a16="http://schemas.microsoft.com/office/drawing/2014/main" id="{104042AD-C7A2-4A3E-A362-CC786FD7B75D}"/>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FFC986E9-6B61-4C7D-9871-4399FCDF2326}"/>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20364753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2026-10-07T23:43:08.4700000Z</dcterms:created>
  <dcterms:modified xsi:type="dcterms:W3CDTF">2026-10-07T23:43:08.4700000Z</dcterms:modified>
</coreProperties>
</file>